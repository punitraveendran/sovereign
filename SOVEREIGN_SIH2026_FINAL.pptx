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sz="3200">
                <a:solidFill>
                  <a:srgbClr val="FFFFFF"/>
                </a:solidFill>
                <a:latin typeface="Calibri"/>
              </a:rPr>
              <a:t>SOVEREIGN</a:t>
            </a:r>
          </a:p>
          <a:p>
            <a:r>
              <a:rPr b="0" sz="1300">
                <a:solidFill>
                  <a:srgbClr val="D0E8FF"/>
                </a:solidFill>
                <a:latin typeface="Calibri"/>
              </a:rPr>
              <a:t>Air-Gapped, Factual AI Workbench for Industrial Operations</a:t>
            </a:r>
          </a:p>
          <a:p>
            <a:r>
              <a:rPr b="0" sz="900">
                <a:solidFill>
                  <a:srgbClr val="9EC8F0"/>
                </a:solidFill>
                <a:latin typeface="Calibri"/>
              </a:rPr>
              <a:t>100% On-Device  |  Zero Cloud Egress  |  Self-Critiquing Agentic AI  |  SHA-256 Audit Trail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Problem Statement ID:  </a:t>
            </a:r>
            <a:r>
              <a:rPr b="0" sz="950">
                <a:solidFill>
                  <a:srgbClr val="C8E0FF"/>
                </a:solidFill>
                <a:latin typeface="Calibri"/>
              </a:rPr>
              <a:t>SIH-2025 / Enterprise Defense AI</a:t>
            </a:r>
          </a:p>
          <a:p>
            <a:pPr>
              <a:spcAft>
                <a:spcPts val="2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Problem Statement Title:  </a:t>
            </a:r>
            <a:r>
              <a:rPr b="0" sz="950">
                <a:solidFill>
                  <a:srgbClr val="C8E0FF"/>
                </a:solidFill>
                <a:latin typeface="Calibri"/>
              </a:rPr>
              <a:t>Sovereign Air-Gapped AI Workbench for Industrial Operations</a:t>
            </a:r>
          </a:p>
          <a:p>
            <a:pPr>
              <a:spcAft>
                <a:spcPts val="2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Theme:  </a:t>
            </a:r>
            <a:r>
              <a:rPr b="0" sz="950">
                <a:solidFill>
                  <a:srgbClr val="C8E0FF"/>
                </a:solidFill>
                <a:latin typeface="Calibri"/>
              </a:rPr>
              <a:t>Smart Automation / Industrial IoT / Defense &amp; National Security</a:t>
            </a:r>
          </a:p>
          <a:p>
            <a:pPr>
              <a:spcAft>
                <a:spcPts val="2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PS Category:  </a:t>
            </a:r>
            <a:r>
              <a:rPr b="0" sz="950">
                <a:solidFill>
                  <a:srgbClr val="C8E0FF"/>
                </a:solidFill>
                <a:latin typeface="Calibri"/>
              </a:rPr>
              <a:t>Software</a:t>
            </a:r>
          </a:p>
          <a:p>
            <a:pPr>
              <a:spcAft>
                <a:spcPts val="2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Team ID:  </a:t>
            </a:r>
            <a:r>
              <a:rPr b="0" sz="950">
                <a:solidFill>
                  <a:srgbClr val="C8E0FF"/>
                </a:solidFill>
                <a:latin typeface="Calibri"/>
              </a:rPr>
              <a:t>[Your SIH Portal Team ID]</a:t>
            </a:r>
          </a:p>
          <a:p>
            <a:pPr>
              <a:spcAft>
                <a:spcPts val="2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Team Name:  </a:t>
            </a:r>
            <a:r>
              <a:rPr b="0" sz="950">
                <a:solidFill>
                  <a:srgbClr val="C8E0FF"/>
                </a:solidFill>
                <a:latin typeface="Calibri"/>
              </a:rPr>
              <a:t>Team Sovereign</a:t>
            </a:r>
          </a:p>
          <a:p>
            <a:pPr>
              <a:spcAft>
                <a:spcPts val="200"/>
              </a:spcAft>
            </a:p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4315968"/>
            <a:ext cx="5925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 MEMBERS &amp; DOMAIN OWNERSHIP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4498848"/>
            <a:ext cx="2073859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" y="4535424"/>
            <a:ext cx="5925312" cy="237744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456285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5628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Punit Raveendran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20824" y="456285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Team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3472" y="4562856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Agent Core (LangGraph) · Neural Router · Crypto Security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" y="4782312"/>
            <a:ext cx="5925312" cy="237744"/>
          </a:xfrm>
          <a:prstGeom prst="rect">
            <a:avLst/>
          </a:prstGeom>
          <a:solidFill>
            <a:srgbClr val="12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80974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Manoj [Last Name]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0824" y="480974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33472" y="4809744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Microservices · Chroma Vector RAG · Document Generator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" y="5029200"/>
            <a:ext cx="5925312" cy="237744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505663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50566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Aparna [Last Name]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50566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33472" y="5056632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Multimodal Pipeline · RapidOCR · Vision-Language Inference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" y="5276088"/>
            <a:ext cx="5925312" cy="237744"/>
          </a:xfrm>
          <a:prstGeom prst="rect">
            <a:avLst/>
          </a:prstGeom>
          <a:solidFill>
            <a:srgbClr val="12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6" y="530352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53035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4]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20824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33472" y="5303520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Sandbox Execution · Security Policy · Container Hardening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" y="5522976"/>
            <a:ext cx="5925312" cy="237744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" y="555040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555040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5]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0824" y="55504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33472" y="5550408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Industrial Compliance · UI/UX · Edge Evaluation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" y="5769864"/>
            <a:ext cx="5925312" cy="237744"/>
          </a:xfrm>
          <a:prstGeom prst="rect">
            <a:avLst/>
          </a:prstGeom>
          <a:solidFill>
            <a:srgbClr val="12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2336" y="579729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" y="579729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6]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0824" y="57972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33472" y="5797296"/>
            <a:ext cx="3593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B8D8"/>
                </a:solidFill>
                <a:latin typeface="Calibri"/>
              </a:rPr>
              <a:t>QA · Benchmark Verification · Hardware Telemetry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31596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Institution &amp; Repository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0" y="4498848"/>
            <a:ext cx="1828800" cy="18288"/>
          </a:xfrm>
          <a:prstGeom prst="rect">
            <a:avLst/>
          </a:prstGeom>
          <a:solidFill>
            <a:srgbClr val="9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45354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0FF"/>
                </a:solidFill>
                <a:latin typeface="Calibri"/>
              </a:rPr>
              <a:t>[Your College / University Name]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478231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0FF"/>
                </a:solidFill>
                <a:latin typeface="Calibri"/>
              </a:rPr>
              <a:t>[City, State]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0292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0FF"/>
                </a:solidFill>
                <a:latin typeface="Calibri"/>
              </a:rPr>
              <a:t>github.com/[handle]/sovereign-ai-workbench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0F2B48"/>
                </a:solidFill>
                <a:latin typeface="Calibri"/>
              </a:rPr>
              <a:t>SOVEREIGN — Proposed Solution &amp; Key Features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91440" y="12070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THE PROBLEM — CRITICAL INDUSTRIAL GAP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91440" y="1389888"/>
            <a:ext cx="1216151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91440" y="1444752"/>
            <a:ext cx="3474720" cy="1069848"/>
          </a:xfrm>
          <a:prstGeom prst="rect">
            <a:avLst/>
          </a:prstGeom>
          <a:solidFill>
            <a:srgbClr val="FDEDEC"/>
          </a:solidFill>
          <a:ln w="9525">
            <a:solidFill>
              <a:srgbClr val="E8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ectangle 15365"/>
          <p:cNvSpPr/>
          <p:nvPr/>
        </p:nvSpPr>
        <p:spPr>
          <a:xfrm>
            <a:off x="91440" y="1444752"/>
            <a:ext cx="45720" cy="10698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201168" y="151790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Cloud Leakage &amp; Air-Gap Violations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01168" y="17556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Defense, refineries &amp; nuclear plants cannot use commercial cloud AI — classified data leakage risk.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1440" y="2560320"/>
            <a:ext cx="3474720" cy="1069848"/>
          </a:xfrm>
          <a:prstGeom prst="rect">
            <a:avLst/>
          </a:prstGeom>
          <a:solidFill>
            <a:srgbClr val="FFF5F5"/>
          </a:solidFill>
          <a:ln w="9525">
            <a:solidFill>
              <a:srgbClr val="E8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91440" y="2560320"/>
            <a:ext cx="45720" cy="10698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201168" y="263347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Data-Layer Flattening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201168" y="2871215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Standard LLMs ignore org hierarchies; junior staff can extract board-level confidential strategies.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91440" y="3675887"/>
            <a:ext cx="3474720" cy="1069848"/>
          </a:xfrm>
          <a:prstGeom prst="rect">
            <a:avLst/>
          </a:prstGeom>
          <a:solidFill>
            <a:srgbClr val="FDEDEC"/>
          </a:solidFill>
          <a:ln w="9525">
            <a:solidFill>
              <a:srgbClr val="E8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ectangle 15373"/>
          <p:cNvSpPr/>
          <p:nvPr/>
        </p:nvSpPr>
        <p:spPr>
          <a:xfrm>
            <a:off x="91440" y="3675887"/>
            <a:ext cx="45720" cy="10698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201168" y="3749039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Hallucinated Industrial Metrics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201168" y="3986783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AI fabricates tolerances (e.g. wrong 0.05 mm pitting or actuator torque) causing plant failures.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91440" y="4791456"/>
            <a:ext cx="3474720" cy="1069848"/>
          </a:xfrm>
          <a:prstGeom prst="rect">
            <a:avLst/>
          </a:prstGeom>
          <a:solidFill>
            <a:srgbClr val="FFF5F5"/>
          </a:solidFill>
          <a:ln w="9525">
            <a:solidFill>
              <a:srgbClr val="E8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ectangle 15377"/>
          <p:cNvSpPr/>
          <p:nvPr/>
        </p:nvSpPr>
        <p:spPr>
          <a:xfrm>
            <a:off x="91440" y="4791456"/>
            <a:ext cx="45720" cy="10698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201168" y="48646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Flawed Wrapper Architectures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201168" y="510235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Cloud-reliant AI wrappers stop working entirely when field networks drop; zero offline resilience.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703320" y="120700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OUR SOLUTION — HOW SOVEREIGN WORKS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3703320" y="1389888"/>
            <a:ext cx="1664207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3703320" y="1444752"/>
            <a:ext cx="4754880" cy="804672"/>
          </a:xfrm>
          <a:prstGeom prst="rect">
            <a:avLst/>
          </a:prstGeom>
          <a:solidFill>
            <a:srgbClr val="E8F3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3767328" y="149961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B48"/>
                </a:solidFill>
                <a:latin typeface="Calibri"/>
              </a:rPr>
              <a:t>1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096512" y="14996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3272A"/>
                </a:solidFill>
                <a:latin typeface="Calibri"/>
              </a:rPr>
              <a:t>Scanned Report / Gauge Photo uploaded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7296912" y="1517904"/>
            <a:ext cx="1078992" cy="201168"/>
          </a:xfrm>
          <a:prstGeom prst="roundRect">
            <a:avLst>
              <a:gd name="adj" fmla="val 20000"/>
            </a:avLst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7296912" y="1517904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Multimodal Input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4206240" y="226771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5389" name="Rectangle 15388"/>
          <p:cNvSpPr/>
          <p:nvPr/>
        </p:nvSpPr>
        <p:spPr>
          <a:xfrm>
            <a:off x="3703320" y="2304288"/>
            <a:ext cx="4754880" cy="804672"/>
          </a:xfrm>
          <a:prstGeom prst="rect">
            <a:avLst/>
          </a:prstGeom>
          <a:solidFill>
            <a:srgbClr val="E6F6F5"/>
          </a:solidFill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3767328" y="235915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B48"/>
                </a:solidFill>
                <a:latin typeface="Calibri"/>
              </a:rPr>
              <a:t>2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096512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3272A"/>
                </a:solidFill>
                <a:latin typeface="Calibri"/>
              </a:rPr>
              <a:t>RapidOCR (PP-OCRv4 ONNX) extracts readings on-device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7296912" y="2377440"/>
            <a:ext cx="1078992" cy="201168"/>
          </a:xfrm>
          <a:prstGeom prst="roundRect">
            <a:avLst>
              <a:gd name="adj" fmla="val 20000"/>
            </a:avLst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7296912" y="237744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On-Device OCR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4206240" y="312724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5395" name="Rectangle 15394"/>
          <p:cNvSpPr/>
          <p:nvPr/>
        </p:nvSpPr>
        <p:spPr>
          <a:xfrm>
            <a:off x="3703320" y="3163824"/>
            <a:ext cx="4754880" cy="804672"/>
          </a:xfrm>
          <a:prstGeom prst="rect">
            <a:avLst/>
          </a:prstGeom>
          <a:solidFill>
            <a:srgbClr val="E8F3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3767328" y="321868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B48"/>
                </a:solidFill>
                <a:latin typeface="Calibri"/>
              </a:rPr>
              <a:t>3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4096512" y="3218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3272A"/>
                </a:solidFill>
                <a:latin typeface="Calibri"/>
              </a:rPr>
              <a:t>LangGraph Agent: Plan → Act → Observe → Critique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7296912" y="3236976"/>
            <a:ext cx="1078992" cy="201168"/>
          </a:xfrm>
          <a:prstGeom prst="roundRect">
            <a:avLst>
              <a:gd name="adj" fmla="val 20000"/>
            </a:avLst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7296912" y="3236976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Agentic Loop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4206240" y="398678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5401" name="Rectangle 15400"/>
          <p:cNvSpPr/>
          <p:nvPr/>
        </p:nvSpPr>
        <p:spPr>
          <a:xfrm>
            <a:off x="3703320" y="4023360"/>
            <a:ext cx="4754880" cy="804672"/>
          </a:xfrm>
          <a:prstGeom prst="rect">
            <a:avLst/>
          </a:prstGeom>
          <a:solidFill>
            <a:srgbClr val="E6F6F5"/>
          </a:solidFill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3767328" y="407822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B48"/>
                </a:solidFill>
                <a:latin typeface="Calibri"/>
              </a:rPr>
              <a:t>4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4096512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3272A"/>
                </a:solidFill>
                <a:latin typeface="Calibri"/>
              </a:rPr>
              <a:t>Cross-checks values against plant SOP knowledge base</a:t>
            </a:r>
          </a:p>
        </p:txBody>
      </p:sp>
      <p:sp>
        <p:nvSpPr>
          <p:cNvPr id="15404" name="Rectangle 15403"/>
          <p:cNvSpPr/>
          <p:nvPr/>
        </p:nvSpPr>
        <p:spPr>
          <a:xfrm>
            <a:off x="7296912" y="4096512"/>
            <a:ext cx="1078992" cy="201168"/>
          </a:xfrm>
          <a:prstGeom prst="roundRect">
            <a:avLst>
              <a:gd name="adj" fmla="val 20000"/>
            </a:avLst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7296912" y="4096512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RAG Grounding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206240" y="4846320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5407" name="Rectangle 15406"/>
          <p:cNvSpPr/>
          <p:nvPr/>
        </p:nvSpPr>
        <p:spPr>
          <a:xfrm>
            <a:off x="3703320" y="4882896"/>
            <a:ext cx="4754880" cy="804672"/>
          </a:xfrm>
          <a:prstGeom prst="rect">
            <a:avLst/>
          </a:prstGeom>
          <a:solidFill>
            <a:srgbClr val="E8F3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TextBox 15407"/>
          <p:cNvSpPr txBox="1"/>
          <p:nvPr/>
        </p:nvSpPr>
        <p:spPr>
          <a:xfrm>
            <a:off x="3767328" y="4937759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B48"/>
                </a:solidFill>
                <a:latin typeface="Calibri"/>
              </a:rPr>
              <a:t>5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4096512" y="4937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3272A"/>
                </a:solidFill>
                <a:latin typeface="Calibri"/>
              </a:rPr>
              <a:t>Generates verified, branded .docx approval note</a:t>
            </a:r>
          </a:p>
        </p:txBody>
      </p:sp>
      <p:sp>
        <p:nvSpPr>
          <p:cNvPr id="15410" name="Rectangle 15409"/>
          <p:cNvSpPr/>
          <p:nvPr/>
        </p:nvSpPr>
        <p:spPr>
          <a:xfrm>
            <a:off x="7296912" y="4956048"/>
            <a:ext cx="1078992" cy="201168"/>
          </a:xfrm>
          <a:prstGeom prst="roundRect">
            <a:avLst>
              <a:gd name="adj" fmla="val 20000"/>
            </a:avLst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TextBox 15410"/>
          <p:cNvSpPr txBox="1"/>
          <p:nvPr/>
        </p:nvSpPr>
        <p:spPr>
          <a:xfrm>
            <a:off x="7296912" y="495604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Secure Output</a:t>
            </a:r>
          </a:p>
        </p:txBody>
      </p:sp>
      <p:sp>
        <p:nvSpPr>
          <p:cNvPr id="15412" name="Rectangle 15411"/>
          <p:cNvSpPr/>
          <p:nvPr/>
        </p:nvSpPr>
        <p:spPr>
          <a:xfrm>
            <a:off x="3703320" y="5788151"/>
            <a:ext cx="4754880" cy="566928"/>
          </a:xfrm>
          <a:prstGeom prst="rect">
            <a:avLst/>
          </a:prstGeom>
          <a:solidFill>
            <a:srgbClr val="E8F3FF"/>
          </a:solidFill>
          <a:ln w="127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3" name="TextBox 15412"/>
          <p:cNvSpPr txBox="1"/>
          <p:nvPr/>
        </p:nvSpPr>
        <p:spPr>
          <a:xfrm>
            <a:off x="3794760" y="5833871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Why SOVEREIGN Stands Out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3794760" y="60441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  100% On-Device, zero internet  |  Deterministic grounding, refuses to fabricate numbers  |  RBAC at data-layer, not prompt layer  |  SHA-256 tamper-evident audit chain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8549640" y="12070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KEY FEATURES</a:t>
            </a:r>
          </a:p>
        </p:txBody>
      </p:sp>
      <p:sp>
        <p:nvSpPr>
          <p:cNvPr id="15416" name="Rectangle 15415"/>
          <p:cNvSpPr/>
          <p:nvPr/>
        </p:nvSpPr>
        <p:spPr>
          <a:xfrm>
            <a:off x="8549640" y="1389888"/>
            <a:ext cx="1248156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Rectangle 15416"/>
          <p:cNvSpPr/>
          <p:nvPr/>
        </p:nvSpPr>
        <p:spPr>
          <a:xfrm>
            <a:off x="8549640" y="1444752"/>
            <a:ext cx="3566160" cy="749808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TextBox 15417"/>
          <p:cNvSpPr txBox="1"/>
          <p:nvPr/>
        </p:nvSpPr>
        <p:spPr>
          <a:xfrm>
            <a:off x="8641080" y="15179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Zero-Bypass RBAC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641080" y="17556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Chunk-level access policies; not bypassable via prompt engineering</a:t>
            </a:r>
          </a:p>
        </p:txBody>
      </p:sp>
      <p:sp>
        <p:nvSpPr>
          <p:cNvPr id="15420" name="Rectangle 15419"/>
          <p:cNvSpPr/>
          <p:nvPr/>
        </p:nvSpPr>
        <p:spPr>
          <a:xfrm>
            <a:off x="8549640" y="2240280"/>
            <a:ext cx="3566160" cy="749808"/>
          </a:xfrm>
          <a:prstGeom prst="rect">
            <a:avLst/>
          </a:prstGeom>
          <a:solidFill>
            <a:srgbClr val="E6F6F5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1" name="TextBox 15420"/>
          <p:cNvSpPr txBox="1"/>
          <p:nvPr/>
        </p:nvSpPr>
        <p:spPr>
          <a:xfrm>
            <a:off x="8641080" y="231343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True Agentic Loop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8641080" y="2551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LangGraph Plan → Act → Observe → Critique with self-correction</a:t>
            </a:r>
          </a:p>
        </p:txBody>
      </p:sp>
      <p:sp>
        <p:nvSpPr>
          <p:cNvPr id="15423" name="Rectangle 15422"/>
          <p:cNvSpPr/>
          <p:nvPr/>
        </p:nvSpPr>
        <p:spPr>
          <a:xfrm>
            <a:off x="8549640" y="3035808"/>
            <a:ext cx="3566160" cy="749808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4" name="TextBox 15423"/>
          <p:cNvSpPr txBox="1"/>
          <p:nvPr/>
        </p:nvSpPr>
        <p:spPr>
          <a:xfrm>
            <a:off x="8641080" y="310896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Native Office Output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8641080" y="33467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Generates .docx / .pptx / .xlsx directly from agent decisions</a:t>
            </a:r>
          </a:p>
        </p:txBody>
      </p:sp>
      <p:sp>
        <p:nvSpPr>
          <p:cNvPr id="15426" name="Rectangle 15425"/>
          <p:cNvSpPr/>
          <p:nvPr/>
        </p:nvSpPr>
        <p:spPr>
          <a:xfrm>
            <a:off x="8549640" y="3831335"/>
            <a:ext cx="3566160" cy="749808"/>
          </a:xfrm>
          <a:prstGeom prst="rect">
            <a:avLst/>
          </a:prstGeom>
          <a:solidFill>
            <a:srgbClr val="E6F6F5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7" name="TextBox 15426"/>
          <p:cNvSpPr txBox="1"/>
          <p:nvPr/>
        </p:nvSpPr>
        <p:spPr>
          <a:xfrm>
            <a:off x="8641080" y="3904487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On-Device OCR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8641080" y="41422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RapidOCR PP-OCRv4 ONNX — sub-100 ms, CPU/DirectML, no cloud</a:t>
            </a:r>
          </a:p>
        </p:txBody>
      </p:sp>
      <p:sp>
        <p:nvSpPr>
          <p:cNvPr id="15429" name="Rectangle 15428"/>
          <p:cNvSpPr/>
          <p:nvPr/>
        </p:nvSpPr>
        <p:spPr>
          <a:xfrm>
            <a:off x="8549640" y="4626864"/>
            <a:ext cx="3566160" cy="749808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0" name="TextBox 15429"/>
          <p:cNvSpPr txBox="1"/>
          <p:nvPr/>
        </p:nvSpPr>
        <p:spPr>
          <a:xfrm>
            <a:off x="8641080" y="4700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Self-Critique Guard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8641080" y="4937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Auto-flags [LOW CONFIDENCE] if output lacks grounded optical evidence</a:t>
            </a:r>
          </a:p>
        </p:txBody>
      </p:sp>
      <p:sp>
        <p:nvSpPr>
          <p:cNvPr id="15432" name="Rectangle 15431"/>
          <p:cNvSpPr/>
          <p:nvPr/>
        </p:nvSpPr>
        <p:spPr>
          <a:xfrm>
            <a:off x="8549640" y="5422392"/>
            <a:ext cx="3566160" cy="749808"/>
          </a:xfrm>
          <a:prstGeom prst="rect">
            <a:avLst/>
          </a:prstGeom>
          <a:solidFill>
            <a:srgbClr val="E6F6F5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3" name="TextBox 15432"/>
          <p:cNvSpPr txBox="1"/>
          <p:nvPr/>
        </p:nvSpPr>
        <p:spPr>
          <a:xfrm>
            <a:off x="8641080" y="549554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Hardened Sandbox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8641080" y="57332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1 GB RAM limit, --network none isolated code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0F2B48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/>
              <a:t>Team Sovereign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3152" y="117043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HARDWARE &amp; TECHNOLOGY STACK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73152" y="1353312"/>
            <a:ext cx="1008125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73152" y="1408176"/>
            <a:ext cx="2880360" cy="640080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164592" y="14538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Inference Runtime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64592" y="16642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llama.cpp · CUDA 12 / Vulkan · 65 tok/s on RTX 4050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3152" y="2093976"/>
            <a:ext cx="2880360" cy="640080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164592" y="21396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Orchestration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64592" y="23500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FastAPI + LangGraph State Machine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3152" y="2779776"/>
            <a:ext cx="2880360" cy="640080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164592" y="28254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Vector Store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64592" y="30358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ChromaDB local · BGE dense embeddings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3152" y="3465576"/>
            <a:ext cx="2880360" cy="640080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164592" y="35112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OCR Engine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64592" y="3721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RapidOCR PP-OCRv4 ONNX · &lt;100 ms on CPU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73152" y="4151376"/>
            <a:ext cx="2880360" cy="640080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64592" y="41970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Models Used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64592" y="44074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Nemotron-3 Nano (reasoning) · Granite 4.1 8B (code) · Qwen2.5-VL-7B (vision)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73152" y="4837176"/>
            <a:ext cx="2880360" cy="640080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164592" y="48828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Code Sandbox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64592" y="50932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Subprocess · 1 GB RAM · --network none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73152" y="5522976"/>
            <a:ext cx="2880360" cy="640080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164592" y="55686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Hardware Target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64592" y="57790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RTX 3060–5050 · 6–8 GB VRAM · 16 GB RAM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017520" y="1170432"/>
            <a:ext cx="6172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END-TO-END ARCHITECTURE FLOW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017520" y="1353312"/>
            <a:ext cx="2160270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3017520" y="1408176"/>
            <a:ext cx="6172200" cy="896112"/>
          </a:xfrm>
          <a:prstGeom prst="rect">
            <a:avLst/>
          </a:prstGeom>
          <a:solidFill>
            <a:srgbClr val="E8F3FF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3017520" y="1408176"/>
            <a:ext cx="54864" cy="89611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145536" y="1463040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  <a:latin typeface="Calibri"/>
              </a:rPr>
              <a:t>1  MULTIMODAL INGESTION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145536" y="1719072"/>
            <a:ext cx="5989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F6A"/>
                </a:solidFill>
                <a:latin typeface="Calibri"/>
              </a:rPr>
              <a:t>Scanned PDFs · Valve Photos · P&amp;ID Drawings · Text Logs
RapidOCR (PP-OCRv4 ONNX) → Grounded Optical Telemetry String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966459" y="226771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017520" y="2359152"/>
            <a:ext cx="6172200" cy="896112"/>
          </a:xfrm>
          <a:prstGeom prst="rect">
            <a:avLst/>
          </a:prstGeom>
          <a:solidFill>
            <a:srgbClr val="E6F6F5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3017520" y="2359152"/>
            <a:ext cx="54864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3145536" y="241401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2  NEURAL TASK ROUTING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145536" y="2670048"/>
            <a:ext cx="5989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F6A"/>
                </a:solidFill>
                <a:latin typeface="Calibri"/>
              </a:rPr>
              <a:t>Intent classifier &lt;150 ms · Selects Nemotron-3 (reasoning) / Granite 4.1 (code) / Qwen2.5-VL (vision)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966459" y="321868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3017520" y="3310128"/>
            <a:ext cx="6172200" cy="896112"/>
          </a:xfrm>
          <a:prstGeom prst="rect">
            <a:avLst/>
          </a:prstGeom>
          <a:solidFill>
            <a:srgbClr val="E8F3FF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3017520" y="3310128"/>
            <a:ext cx="54864" cy="896112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3145536" y="336499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B48"/>
                </a:solidFill>
                <a:latin typeface="Calibri"/>
              </a:rPr>
              <a:t>3  AGENTIC ORCHESTRATION  (LangGraph)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145536" y="3621024"/>
            <a:ext cx="5989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F6A"/>
                </a:solidFill>
                <a:latin typeface="Calibri"/>
              </a:rPr>
              <a:t>PLAN → ACT → OBSERVE → CRITIQUE  ·  Self-correction if output not grounded in source telemetry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966459" y="416966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3017520" y="4261104"/>
            <a:ext cx="6172200" cy="896112"/>
          </a:xfrm>
          <a:prstGeom prst="rect">
            <a:avLst/>
          </a:prstGeom>
          <a:solidFill>
            <a:srgbClr val="E6F6F5"/>
          </a:solidFill>
          <a:ln w="19050">
            <a:solidFill>
              <a:srgbClr val="1A4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3017520" y="4261104"/>
            <a:ext cx="54864" cy="896112"/>
          </a:xfrm>
          <a:prstGeom prst="rect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3145536" y="431596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A72"/>
                </a:solidFill>
                <a:latin typeface="Calibri"/>
              </a:rPr>
              <a:t>4  DATA-LAYER SECURITY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3145536" y="4572000"/>
            <a:ext cx="5989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F6A"/>
                </a:solidFill>
                <a:latin typeface="Calibri"/>
              </a:rPr>
              <a:t>Lateral RBAC Gate · Chroma metadata filter · 1 GB sandbox · --network none subprocess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66459" y="512064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A8A"/>
                </a:solidFill>
                <a:latin typeface="Calibri"/>
              </a:rPr>
              <a:t>↓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3017520" y="5212080"/>
            <a:ext cx="6172200" cy="896112"/>
          </a:xfrm>
          <a:prstGeom prst="rect">
            <a:avLst/>
          </a:prstGeom>
          <a:solidFill>
            <a:srgbClr val="E8F3FF"/>
          </a:solidFill>
          <a:ln w="1905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ectangle 17456"/>
          <p:cNvSpPr/>
          <p:nvPr/>
        </p:nvSpPr>
        <p:spPr>
          <a:xfrm>
            <a:off x="3017520" y="5212080"/>
            <a:ext cx="54864" cy="896112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3145536" y="5266944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60"/>
                </a:solidFill>
                <a:latin typeface="Calibri"/>
              </a:rPr>
              <a:t>5  CRYPTOGRAPHIC LEDGER &amp; DELIVERABLES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145536" y="5522976"/>
            <a:ext cx="5989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F6A"/>
                </a:solidFill>
                <a:latin typeface="Calibri"/>
              </a:rPr>
              <a:t>SHA-256 Merkle chain (audit_log.jsonl) · 0 bytes egress · .docx / .pptx / .xlsx output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253728" y="117043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PERFORMANCE METRICS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9253728" y="1353312"/>
            <a:ext cx="992124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Rectangle 17461"/>
          <p:cNvSpPr/>
          <p:nvPr/>
        </p:nvSpPr>
        <p:spPr>
          <a:xfrm>
            <a:off x="9253728" y="1408176"/>
            <a:ext cx="2834640" cy="7498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9345167" y="1453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65 tok/s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9345167" y="18105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Inference speed
RTX 4050 CUDA 12 FP16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9253728" y="2203704"/>
            <a:ext cx="2834640" cy="749808"/>
          </a:xfrm>
          <a:prstGeom prst="rect">
            <a:avLst/>
          </a:prstGeom>
          <a:solidFill>
            <a:srgbClr val="E6F6F5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9345167" y="2249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&lt;100 ms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9345167" y="260604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OCR extraction
On-device RapidOCR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9253728" y="2999232"/>
            <a:ext cx="2834640" cy="7498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9345167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6–8 GB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345167" y="34015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VRAM for full pipeline
Consumer GPU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9253728" y="3794760"/>
            <a:ext cx="2834640" cy="749808"/>
          </a:xfrm>
          <a:prstGeom prst="rect">
            <a:avLst/>
          </a:prstGeom>
          <a:solidFill>
            <a:srgbClr val="E6F6F5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9345167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Rs. 0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9345167" y="419709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Recurring API cost
Zero external services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9253728" y="4590288"/>
            <a:ext cx="2834640" cy="7498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9345167" y="46360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0 Bytes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9345167" y="499262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External egress
Hardware-verified</a:t>
            </a:r>
          </a:p>
        </p:txBody>
      </p:sp>
      <p:sp>
        <p:nvSpPr>
          <p:cNvPr id="17477" name="Rectangle 17476"/>
          <p:cNvSpPr/>
          <p:nvPr/>
        </p:nvSpPr>
        <p:spPr>
          <a:xfrm>
            <a:off x="9253728" y="5385816"/>
            <a:ext cx="2834640" cy="749808"/>
          </a:xfrm>
          <a:prstGeom prst="rect">
            <a:avLst/>
          </a:prstGeom>
          <a:solidFill>
            <a:srgbClr val="E6F6F5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9345167" y="54315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48"/>
                </a:solidFill>
                <a:latin typeface="Calibri"/>
              </a:rPr>
              <a:t>100% Offline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9345167" y="57881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No internet required
Air-gapped bunkers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0F2B48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0" y="1170432"/>
            <a:ext cx="3977639" cy="1938528"/>
          </a:xfrm>
          <a:prstGeom prst="rect">
            <a:avLst/>
          </a:prstGeom>
          <a:noFill/>
          <a:ln w="1524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0" y="1170432"/>
            <a:ext cx="3977639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91440" y="1197864"/>
            <a:ext cx="3794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Technical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1440" y="1481328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Runs on COTS hardware — RTX 3060/4050/5050, 16 GB RAM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440" y="1865376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Open-source stack: FastAPI · LangGraph · ChromaDB · llama.cpp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1440" y="2249424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Graceful degradation: GPU → CPU/Vulkan auto-fallback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1440" y="2633472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Working prototype validated across 5 automated test suites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059935" y="1170432"/>
            <a:ext cx="3977639" cy="1938528"/>
          </a:xfrm>
          <a:prstGeom prst="rect">
            <a:avLst/>
          </a:prstGeom>
          <a:noFill/>
          <a:ln w="15240">
            <a:solidFill>
              <a:srgbClr val="B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4059935" y="1170432"/>
            <a:ext cx="3977639" cy="256032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151375" y="1197864"/>
            <a:ext cx="3794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National &amp; Strategic Alignment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51375" y="1481328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Atmanirbhar Bharat — 100% Made in India AI stack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151375" y="1865376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India NDGF compliant — full on-soil data sovereignty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151375" y="2249424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Defense air-gap directives — 0 bytes ever leave the device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51375" y="2633472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ISO/IEC 27001 A.13.1 Network Controls satisfied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8119871" y="1170432"/>
            <a:ext cx="3977639" cy="1938528"/>
          </a:xfrm>
          <a:prstGeom prst="rect">
            <a:avLst/>
          </a:prstGeom>
          <a:noFill/>
          <a:ln w="1524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8119871" y="1170432"/>
            <a:ext cx="3977639" cy="256032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8211311" y="1197864"/>
            <a:ext cx="3794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Maintenance &amp; Deployment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211311" y="1481328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Air-gapped .gguf weight drop — no internet in production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211311" y="1865376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Docker Compose single-command deployment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11311" y="2249424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Offline security patches via signed package bundles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11311" y="2633472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  Extensible: add new models via YAML config only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0" y="3200400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B48"/>
                </a:solidFill>
                <a:latin typeface="Calibri"/>
              </a:rPr>
              <a:t>Economic Feasibility — Commercial Cloud AI vs. Sovereign On-Device Workbench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0" y="3419856"/>
            <a:ext cx="12188952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0" y="3456432"/>
            <a:ext cx="3657600" cy="310896"/>
          </a:xfrm>
          <a:prstGeom prst="rect">
            <a:avLst/>
          </a:prstGeom>
          <a:solidFill>
            <a:srgbClr val="0F2B4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3152" y="3511296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Evaluation Parameter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657600" y="3456432"/>
            <a:ext cx="4270248" cy="310896"/>
          </a:xfrm>
          <a:prstGeom prst="rect">
            <a:avLst/>
          </a:prstGeom>
          <a:solidFill>
            <a:srgbClr val="0F2B4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730752" y="3511296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Commercial Cloud AI (OpenAI / AWS Bedrock)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7927848" y="3456432"/>
            <a:ext cx="4261104" cy="310896"/>
          </a:xfrm>
          <a:prstGeom prst="rect">
            <a:avLst/>
          </a:prstGeom>
          <a:solidFill>
            <a:srgbClr val="0F2B4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8001000" y="351129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Sovereign On-Device Workbench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0" y="3785616"/>
            <a:ext cx="3657600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3152" y="3840480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API Cost per Million Tokens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657600" y="3785616"/>
            <a:ext cx="4270248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3730752" y="3840480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$5.00 – $15.00 (continuous recurring OpEx)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7927848" y="3785616"/>
            <a:ext cx="4261104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001000" y="384048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0.00 — Zero recurring API fees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0" y="4114800"/>
            <a:ext cx="3657600" cy="310896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3152" y="4169663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Dedicated Air-Gap Cloud Setup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657600" y="4114800"/>
            <a:ext cx="4270248" cy="310896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3730752" y="4169663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Rs. 15,00,000 – Rs. 50,00,000+ per year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927848" y="4114800"/>
            <a:ext cx="4261104" cy="310896"/>
          </a:xfrm>
          <a:prstGeom prst="rect">
            <a:avLst/>
          </a:prstGeom>
          <a:solidFill>
            <a:srgbClr val="E6F6F5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001000" y="4169663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 — Runs on existing field laptops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0" y="4443984"/>
            <a:ext cx="3657600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73152" y="4498848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Data Breach / Espionage Liability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3657600" y="4443984"/>
            <a:ext cx="4270248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3730752" y="4498848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Extreme — third-party server exposure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7927848" y="4443984"/>
            <a:ext cx="4261104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001000" y="449884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Zero — 0 bytes leave device, ever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0" y="4773168"/>
            <a:ext cx="3657600" cy="310896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73152" y="4828032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Internet Bandwidth Required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3657600" y="4773168"/>
            <a:ext cx="4270248" cy="310896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3730752" y="4828032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High-speed dedicated fiber mandatory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7927848" y="4773168"/>
            <a:ext cx="4261104" cy="310896"/>
          </a:xfrm>
          <a:prstGeom prst="rect">
            <a:avLst/>
          </a:prstGeom>
          <a:solidFill>
            <a:srgbClr val="E6F6F5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001000" y="482803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0 kbps — 100% functional offline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0" y="5102352"/>
            <a:ext cx="3657600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73152" y="5157216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Cost per Generated Deliverable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3657600" y="5102352"/>
            <a:ext cx="4270248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3730752" y="5157216"/>
            <a:ext cx="4123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Rs. 15 – Rs. 45 per document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7927848" y="5102352"/>
            <a:ext cx="4261104" cy="310896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001000" y="51572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0.00 — Unlimited generation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0" y="5541264"/>
            <a:ext cx="12188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B48"/>
                </a:solidFill>
                <a:latin typeface="Calibri"/>
              </a:rPr>
              <a:t>Implementation Scalability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0" y="5742432"/>
            <a:ext cx="12188952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ectangle 17471"/>
          <p:cNvSpPr/>
          <p:nvPr/>
        </p:nvSpPr>
        <p:spPr>
          <a:xfrm>
            <a:off x="0" y="5779008"/>
            <a:ext cx="3200400" cy="292608"/>
          </a:xfrm>
          <a:prstGeom prst="rect">
            <a:avLst/>
          </a:prstGeom>
          <a:solidFill>
            <a:srgbClr val="0F2B4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73152" y="5824728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Implementation Factor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3200400" y="5779008"/>
            <a:ext cx="8988552" cy="292608"/>
          </a:xfrm>
          <a:prstGeom prst="rect">
            <a:avLst/>
          </a:prstGeom>
          <a:solidFill>
            <a:srgbClr val="0F2B4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3273552" y="5824728"/>
            <a:ext cx="8842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Support &amp; Strategic Capability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0" y="6089904"/>
            <a:ext cx="3200400" cy="29260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73152" y="6135624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Hardware Accessibility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3200400" y="6089904"/>
            <a:ext cx="8988552" cy="29260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3273552" y="6135624"/>
            <a:ext cx="8842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100% compatible with existing PSU/defense engineering laptops — no new procurement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0" y="6400800"/>
            <a:ext cx="3200400" cy="2926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73152" y="6446520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Extensibility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3200400" y="6400800"/>
            <a:ext cx="8988552" cy="2926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3273552" y="6446520"/>
            <a:ext cx="8842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Drop-in YAML model manifest: add new open-weight models without re-architecting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0" y="6711696"/>
            <a:ext cx="3200400" cy="29260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73152" y="6757416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Maintenance &amp; Updates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3200400" y="6711696"/>
            <a:ext cx="8988552" cy="29260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3273552" y="6757416"/>
            <a:ext cx="8842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Air-gapped .gguf weight drop; zero external package pulls required in production</a:t>
            </a:r>
          </a:p>
        </p:txBody>
      </p:sp>
      <p:sp>
        <p:nvSpPr>
          <p:cNvPr id="17488" name="Rectangle 17487"/>
          <p:cNvSpPr/>
          <p:nvPr/>
        </p:nvSpPr>
        <p:spPr>
          <a:xfrm>
            <a:off x="0" y="7022592"/>
            <a:ext cx="3200400" cy="2926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73152" y="7068312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Deployment Readiness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3200400" y="7022592"/>
            <a:ext cx="8988552" cy="29260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3273552" y="7068312"/>
            <a:ext cx="8842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Working prototype fully operational — validated across 5 automated diagnostic suites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0F2B48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0" y="1170432"/>
            <a:ext cx="2999232" cy="896112"/>
          </a:xfrm>
          <a:prstGeom prst="rect">
            <a:avLst/>
          </a:prstGeom>
          <a:noFill/>
          <a:ln w="1524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0" y="1170432"/>
            <a:ext cx="2999232" cy="73152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91440" y="128016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B48"/>
                </a:solidFill>
                <a:latin typeface="Calibri"/>
              </a:rPr>
              <a:t>Rs. 0 / Month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1440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A"/>
                </a:solidFill>
                <a:latin typeface="Calibri"/>
              </a:rPr>
              <a:t>Zero Cloud OpEx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044952" y="1170432"/>
            <a:ext cx="2999232" cy="896112"/>
          </a:xfrm>
          <a:prstGeom prst="rect">
            <a:avLst/>
          </a:prstGeom>
          <a:noFill/>
          <a:ln w="1524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3044952" y="1170432"/>
            <a:ext cx="2999232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136392" y="128016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8A"/>
                </a:solidFill>
                <a:latin typeface="Calibri"/>
              </a:rPr>
              <a:t>100%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36392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A"/>
                </a:solidFill>
                <a:latin typeface="Calibri"/>
              </a:rPr>
              <a:t>Air-Gapped &amp; Offline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89904" y="1170432"/>
            <a:ext cx="2999232" cy="896112"/>
          </a:xfrm>
          <a:prstGeom prst="rect">
            <a:avLst/>
          </a:prstGeom>
          <a:noFill/>
          <a:ln w="1524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6089904" y="1170432"/>
            <a:ext cx="2999232" cy="73152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181344" y="128016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60"/>
                </a:solidFill>
                <a:latin typeface="Calibri"/>
              </a:rPr>
              <a:t>10x Faster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181344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A"/>
                </a:solidFill>
                <a:latin typeface="Calibri"/>
              </a:rPr>
              <a:t>Inspection Report Turnaround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9134856" y="1170432"/>
            <a:ext cx="2999232" cy="896112"/>
          </a:xfrm>
          <a:prstGeom prst="rect">
            <a:avLst/>
          </a:pr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9134856" y="1170432"/>
            <a:ext cx="299923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226296" y="1280160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226296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A"/>
                </a:solidFill>
                <a:latin typeface="Calibri"/>
              </a:rPr>
              <a:t>Hallucination Rate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3152" y="213969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OPERATIONAL BENEFITS ACROSS INDUSTRIAL VERTICALS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73152" y="2322576"/>
            <a:ext cx="2080260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73152" y="2377439"/>
            <a:ext cx="5943600" cy="859536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73152" y="2377439"/>
            <a:ext cx="45720" cy="85953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182880" y="2441447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B48"/>
                </a:solidFill>
                <a:latin typeface="Calibri"/>
              </a:rPr>
              <a:t>Defense &amp; Ordnance Factories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82880" y="2679191"/>
            <a:ext cx="5733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Securely processes classified equipment schematics and weapon maintenance logs without cloud adapters or external network.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73152" y="3291839"/>
            <a:ext cx="5943600" cy="859536"/>
          </a:xfrm>
          <a:prstGeom prst="rect">
            <a:avLst/>
          </a:prstGeom>
          <a:solidFill>
            <a:srgbClr val="E6F6F5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73152" y="3291839"/>
            <a:ext cx="45720" cy="85953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182880" y="3355847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B48"/>
                </a:solidFill>
                <a:latin typeface="Calibri"/>
              </a:rPr>
              <a:t>Oil, Gas &amp; Petrochemical Refineries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82880" y="3593591"/>
            <a:ext cx="5733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Automates pipeline ultrasonic thickness checks, hydrostatic pressure testing, and valve failure disposition notes on-site.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73152" y="4206240"/>
            <a:ext cx="5943600" cy="859536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ectangle 17437"/>
          <p:cNvSpPr/>
          <p:nvPr/>
        </p:nvSpPr>
        <p:spPr>
          <a:xfrm>
            <a:off x="73152" y="4206240"/>
            <a:ext cx="45720" cy="85953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182880" y="4270248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B48"/>
                </a:solidFill>
                <a:latin typeface="Calibri"/>
              </a:rPr>
              <a:t>Nuclear &amp; Thermal Power Plants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82880" y="4507992"/>
            <a:ext cx="5733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Guarantees zero lateral data leakage between contract workers, department leads, and plant directors via automated RBAC.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73152" y="5120640"/>
            <a:ext cx="5943600" cy="859536"/>
          </a:xfrm>
          <a:prstGeom prst="rect">
            <a:avLst/>
          </a:prstGeom>
          <a:solidFill>
            <a:srgbClr val="E6F6F5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73152" y="5120640"/>
            <a:ext cx="45720" cy="85953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182880" y="5184648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B48"/>
                </a:solidFill>
                <a:latin typeface="Calibri"/>
              </a:rPr>
              <a:t>Pharmaceutical &amp; Heavy Manufacturing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82880" y="5422392"/>
            <a:ext cx="5733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Eliminates human error in batch telemetry logging — cross-references sensor limits against plant SOPs deterministically.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108192" y="2139696"/>
            <a:ext cx="6007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92B"/>
                </a:solidFill>
                <a:latin typeface="Calibri"/>
              </a:rPr>
              <a:t>LIVE CASE STUDY — VALVE BV-999 INSPECTION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6108192" y="2322576"/>
            <a:ext cx="2102662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6108192" y="2377439"/>
            <a:ext cx="6007608" cy="56692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181344" y="2487168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  <a:latin typeface="Calibri"/>
              </a:rPr>
              <a:t>1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437376" y="248716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Inspector uploads gauge photo to Sovereign workbench.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108192" y="2990087"/>
            <a:ext cx="6007608" cy="56692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181344" y="3099815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  <a:latin typeface="Calibri"/>
              </a:rPr>
              <a:t>2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437376" y="3099815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RapidOCR extracts on-device: 68.5 N.m torque  |  7 drops/min leakage  |  0.44 mm pitting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6108192" y="3602735"/>
            <a:ext cx="6007608" cy="56692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181344" y="3712463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  <a:latin typeface="Calibri"/>
              </a:rPr>
              <a:t>3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437376" y="3712463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Agent cross-references values against plant SOP-VAL-002 — out-of-tolerance detected.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6108192" y="4215383"/>
            <a:ext cx="6007608" cy="566928"/>
          </a:xfrm>
          <a:prstGeom prst="rect">
            <a:avLst/>
          </a:prstGeom>
          <a:noFill/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6181344" y="432511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  <a:latin typeface="Calibri"/>
              </a:rPr>
              <a:t>4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437376" y="432511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LangGraph outputs formatted .docx note: DISPOSITION — Quarantine Asset Immediately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6108192" y="4828031"/>
            <a:ext cx="6007608" cy="566928"/>
          </a:xfrm>
          <a:prstGeom prst="rect">
            <a:avLst/>
          </a:prstGeom>
          <a:solidFill>
            <a:srgbClr val="E8F3FF"/>
          </a:solidFill>
          <a:ln w="6350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6181344" y="4937759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  <a:latin typeface="Calibri"/>
              </a:rPr>
              <a:t>5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437376" y="4937759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3272A"/>
                </a:solidFill>
                <a:latin typeface="Calibri"/>
              </a:rPr>
              <a:t>SHA-256 Merkle entry committed to audit_log.jsonl (tamper-evident).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6108192" y="5440679"/>
            <a:ext cx="6007608" cy="566928"/>
          </a:xfrm>
          <a:prstGeom prst="rect">
            <a:avLst/>
          </a:prstGeom>
          <a:solidFill>
            <a:srgbClr val="E8FFF0"/>
          </a:solidFill>
          <a:ln w="1524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6181344" y="5550407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60"/>
                </a:solidFill>
                <a:latin typeface="Calibri"/>
              </a:rPr>
              <a:t>6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6437376" y="55504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A60"/>
                </a:solidFill>
                <a:latin typeface="Calibri"/>
              </a:rPr>
              <a:t>Total turnaround: 35 seconds   vs.   Manual process: 24–48 hours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0F2B48"/>
                </a:solidFill>
                <a:latin typeface="Calibri"/>
              </a:rPr>
              <a:t>Research, References &amp; Compliance Validation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/>
              <a:t>Team Sovereign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3152" y="11704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RESEARCH FOUNDATIONS &amp; ARCHITECTURAL JUSTIFICATION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73152" y="1353312"/>
            <a:ext cx="1376172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73152" y="1408176"/>
            <a:ext cx="3931920" cy="1097280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164592" y="147218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[1]  Hybrid Mamba-Transformer State-Space Models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64592" y="1728216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Gu et al., "Mamba: Linear-Time Sequence Modeling" — NeurIPS 2023
Validates Nemotron-3 for linear memory scaling on 8 GB VRAM with no attention overhead.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3152" y="2560320"/>
            <a:ext cx="3931920" cy="1097280"/>
          </a:xfrm>
          <a:prstGeom prst="rect">
            <a:avLst/>
          </a:prstGeom>
          <a:noFill/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164592" y="2624327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[2]  Dense Semantic Retrieval &amp; BGE Embeddings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64592" y="2880360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Xiao et al., "C-Pack: Packaged Resources for Universal Text Embeddings" — 2023
Validates dense vector RAG with deterministic metadata filtering for access control.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3152" y="3712464"/>
            <a:ext cx="3931920" cy="1097280"/>
          </a:xfrm>
          <a:prstGeom prst="rect">
            <a:avLst/>
          </a:prstGeom>
          <a:solidFill>
            <a:srgbClr val="E8F3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164592" y="377647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[3]  Lightweight Edge OCR Architecture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64592" y="4032504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Du et al., "PP-OCRv4: Compact Ultra-Lightweight OCR System" — Baidu 2023
Validates RapidOCR for sub-100 ms on-device extraction with zero cloud dependency.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3152" y="4864608"/>
            <a:ext cx="3931920" cy="1097280"/>
          </a:xfrm>
          <a:prstGeom prst="rect">
            <a:avLst/>
          </a:prstGeom>
          <a:noFill/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164592" y="492861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alibri"/>
              </a:rPr>
              <a:t>[4]  Self-Correction &amp; Factual Verification Loops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64592" y="5184648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Madaan et al., "Self-Refine: Iterative Refinement with Self-Feedback" — NeurIPS 2023
Validates LangGraph Plan-Act-Observe-Critique loop to eliminate hallucinated metrics.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078224" y="117043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  <a:latin typeface="Calibri"/>
              </a:rPr>
              <a:t>REGULATORY &amp; STANDARDS COMPLIANCE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078224" y="1353312"/>
            <a:ext cx="1408176" cy="182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4078224" y="1408176"/>
            <a:ext cx="4023360" cy="1097280"/>
          </a:xfrm>
          <a:prstGeom prst="rect">
            <a:avLst/>
          </a:prstGeom>
          <a:solidFill>
            <a:srgbClr val="E6F6F5"/>
          </a:solidFill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4078224" y="1408176"/>
            <a:ext cx="4572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187952" y="1472184"/>
            <a:ext cx="38221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  <a:latin typeface="Calibri"/>
              </a:rPr>
              <a:t>ISO/IEC 27001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87952" y="1728216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Information Security Management — A.13.1 Network Controls
Kernel-isolated execution &amp; zero external egress fully satisfies requirement.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4078224" y="2560320"/>
            <a:ext cx="4023360" cy="1097280"/>
          </a:xfrm>
          <a:prstGeom prst="rect">
            <a:avLst/>
          </a:prstGeom>
          <a:noFill/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4078224" y="2560320"/>
            <a:ext cx="4572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187952" y="2624327"/>
            <a:ext cx="38221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  <a:latin typeface="Calibri"/>
              </a:rPr>
              <a:t>NIST AI RMF 1.0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187952" y="2880360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AI Risk Management Framework
Satisfies Govern, Map &amp; Measure categories via cryptographic audit trails.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078224" y="3712464"/>
            <a:ext cx="4023360" cy="1097280"/>
          </a:xfrm>
          <a:prstGeom prst="rect">
            <a:avLst/>
          </a:prstGeom>
          <a:solidFill>
            <a:srgbClr val="E6F6F5"/>
          </a:solidFill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4078224" y="3712464"/>
            <a:ext cx="4572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187952" y="3776472"/>
            <a:ext cx="38221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  <a:latin typeface="Calibri"/>
              </a:rPr>
              <a:t>API 598 / SOP-VAL-002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187952" y="4032504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Industrial Valve Testing Standard
Seat leakage &amp; hydrostatic criteria embedded directly into RAG knowledge base.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4078224" y="4864608"/>
            <a:ext cx="4023360" cy="1097280"/>
          </a:xfrm>
          <a:prstGeom prst="rect">
            <a:avLst/>
          </a:prstGeom>
          <a:noFill/>
          <a:ln w="9525">
            <a:solidFill>
              <a:srgbClr val="00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4078224" y="4864608"/>
            <a:ext cx="4572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4187952" y="4928616"/>
            <a:ext cx="38221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  <a:latin typeface="Calibri"/>
              </a:rPr>
              <a:t>India NDGF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187952" y="5184648"/>
            <a:ext cx="382219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F6A"/>
                </a:solidFill>
                <a:latin typeface="Calibri"/>
              </a:rPr>
              <a:t>National Data Governance Framework
100% on-soil, on-device data sovereignty — no cross-border transmission.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174736" y="11704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A60"/>
                </a:solidFill>
                <a:latin typeface="Calibri"/>
              </a:rPr>
              <a:t>LIVE VERIFICATION BATTERY (RUN BEFORE JUDGES)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174736" y="1353312"/>
            <a:ext cx="1376172" cy="18288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8174736" y="1408176"/>
            <a:ext cx="3931920" cy="1097280"/>
          </a:xfrm>
          <a:prstGeom prst="rect">
            <a:avLst/>
          </a:prstGeom>
          <a:solidFill>
            <a:srgbClr val="F2F8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8266175" y="14721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ourier New"/>
              </a:rPr>
              <a:t>python verify_full_stack.py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66175" y="175564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4-Pillar System Health Check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9875520" y="2084832"/>
            <a:ext cx="1188720" cy="256032"/>
          </a:xfrm>
          <a:prstGeom prst="roundRect">
            <a:avLst>
              <a:gd name="adj" fmla="val 20000"/>
            </a:avLst>
          </a:prstGeom>
          <a:solidFill>
            <a:srgbClr val="E8FF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9875520" y="20848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8174736" y="2560320"/>
            <a:ext cx="3931920" cy="1097280"/>
          </a:xfrm>
          <a:prstGeom prst="rect">
            <a:avLst/>
          </a:prstGeom>
          <a:solidFill>
            <a:srgbClr val="F2F8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266175" y="2624327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ourier New"/>
              </a:rPr>
              <a:t>python verify_grounding_suite.py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266175" y="2907791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Multimodal Anti-Hallucination Proof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9875520" y="3236976"/>
            <a:ext cx="1188720" cy="256032"/>
          </a:xfrm>
          <a:prstGeom prst="roundRect">
            <a:avLst>
              <a:gd name="adj" fmla="val 20000"/>
            </a:avLst>
          </a:prstGeom>
          <a:solidFill>
            <a:srgbClr val="E8FF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9875520" y="32369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8174736" y="3712464"/>
            <a:ext cx="3931920" cy="1097280"/>
          </a:xfrm>
          <a:prstGeom prst="rect">
            <a:avLst/>
          </a:prstGeom>
          <a:solidFill>
            <a:srgbClr val="F2F8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8266175" y="37764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ourier New"/>
              </a:rPr>
              <a:t>python verify_sandbox.py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266175" y="405993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1 GB Isolated Sandbox Verification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9875520" y="4389120"/>
            <a:ext cx="1188720" cy="256032"/>
          </a:xfrm>
          <a:prstGeom prst="roundRect">
            <a:avLst>
              <a:gd name="adj" fmla="val 20000"/>
            </a:avLst>
          </a:prstGeom>
          <a:solidFill>
            <a:srgbClr val="E8FF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9875520" y="4389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174736" y="4864608"/>
            <a:ext cx="3931920" cy="1097280"/>
          </a:xfrm>
          <a:prstGeom prst="rect">
            <a:avLst/>
          </a:prstGeom>
          <a:solidFill>
            <a:srgbClr val="F2F8FF"/>
          </a:solidFill>
          <a:ln w="9525">
            <a:solidFill>
              <a:srgbClr val="CC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8266175" y="492861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B48"/>
                </a:solidFill>
                <a:latin typeface="Courier New"/>
              </a:rPr>
              <a:t>python verify_audit.py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266175" y="52120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A"/>
                </a:solidFill>
                <a:latin typeface="Calibri"/>
              </a:rPr>
              <a:t>SHA-256 Merkle Audit Integrity Check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9875520" y="5541264"/>
            <a:ext cx="1188720" cy="256032"/>
          </a:xfrm>
          <a:prstGeom prst="roundRect">
            <a:avLst>
              <a:gd name="adj" fmla="val 20000"/>
            </a:avLst>
          </a:prstGeom>
          <a:solidFill>
            <a:srgbClr val="E8FF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9875520" y="55412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0" y="5998464"/>
            <a:ext cx="12188952" cy="18288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91440" y="605332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F6A"/>
                </a:solidFill>
                <a:latin typeface="Calibri"/>
              </a:rPr>
              <a:t>GitHub: github.com/[Your-Handle]/sovereign-ai-workbench   |   MIT Open Source   |   Full test suite &amp; GGUF configs included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8412480" y="60533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0F2B48"/>
                </a:solidFill>
                <a:latin typeface="Calibri"/>
              </a:rPr>
              <a:t>"Not a single byte leaves this laptop."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