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b="1" sz="3600">
                <a:solidFill>
                  <a:srgbClr val="FFFFFF"/>
                </a:solidFill>
                <a:latin typeface="Calibri"/>
              </a:rPr>
              <a:t>SOVEREIGN</a:t>
            </a:r>
          </a:p>
          <a:p>
            <a:r>
              <a:rPr b="0" sz="1300">
                <a:solidFill>
                  <a:srgbClr val="B8D8F8"/>
                </a:solidFill>
                <a:latin typeface="Calibri"/>
              </a:rPr>
              <a:t>Air-Gapped, Factual AI Workbench</a:t>
            </a:r>
          </a:p>
          <a:p>
            <a:r>
              <a:rPr b="0" sz="1100">
                <a:solidFill>
                  <a:srgbClr val="90C0F0"/>
                </a:solidFill>
                <a:latin typeface="Calibri"/>
              </a:rPr>
              <a:t>for Industrial Operations &amp; Confidential Infrastructure</a:t>
            </a:r>
          </a:p>
          <a:p>
            <a:r>
              <a:t> </a:t>
            </a:r>
          </a:p>
          <a:p>
            <a:r>
              <a:rPr b="0" sz="850">
                <a:solidFill>
                  <a:srgbClr val="70A8E0"/>
                </a:solidFill>
                <a:latin typeface="Calibri"/>
              </a:rPr>
              <a:t>100% On-Device  ·  Zero Cloud Egress  ·  Cryptographic Audit Trail  ·  Self-Critiquing Agentic AI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Problem Statement ID:  </a:t>
            </a:r>
            <a:r>
              <a:rPr b="0" sz="950">
                <a:solidFill>
                  <a:srgbClr val="C0D8F5"/>
                </a:solidFill>
                <a:latin typeface="Calibri"/>
              </a:rPr>
              <a:t>SIH-2025 / Enterprise Defense AI</a:t>
            </a:r>
          </a:p>
          <a:p>
            <a:pPr>
              <a:spcAft>
                <a:spcPts val="1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Problem Statement Title:  </a:t>
            </a:r>
            <a:r>
              <a:rPr b="0" sz="950">
                <a:solidFill>
                  <a:srgbClr val="C0D8F5"/>
                </a:solidFill>
                <a:latin typeface="Calibri"/>
              </a:rPr>
              <a:t>Sovereign Air-Gapped AI Workbench for Industrial Operations</a:t>
            </a:r>
          </a:p>
          <a:p>
            <a:pPr>
              <a:spcAft>
                <a:spcPts val="1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Theme:  </a:t>
            </a:r>
            <a:r>
              <a:rPr b="0" sz="950">
                <a:solidFill>
                  <a:srgbClr val="C0D8F5"/>
                </a:solidFill>
                <a:latin typeface="Calibri"/>
              </a:rPr>
              <a:t>Smart Automation / Industrial IoT / Defense &amp; National Security</a:t>
            </a:r>
          </a:p>
          <a:p>
            <a:pPr>
              <a:spcAft>
                <a:spcPts val="1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PS Category:  </a:t>
            </a:r>
            <a:r>
              <a:rPr b="0" sz="950">
                <a:solidFill>
                  <a:srgbClr val="C0D8F5"/>
                </a:solidFill>
                <a:latin typeface="Calibri"/>
              </a:rPr>
              <a:t>Software</a:t>
            </a:r>
          </a:p>
          <a:p>
            <a:pPr>
              <a:spcAft>
                <a:spcPts val="1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Team ID:  </a:t>
            </a:r>
            <a:r>
              <a:rPr b="0" sz="950">
                <a:solidFill>
                  <a:srgbClr val="C0D8F5"/>
                </a:solidFill>
                <a:latin typeface="Calibri"/>
              </a:rPr>
              <a:t>[Your SIH Portal Team ID]</a:t>
            </a:r>
          </a:p>
          <a:p>
            <a:pPr>
              <a:spcAft>
                <a:spcPts val="100"/>
              </a:spcAft>
            </a:pPr>
          </a:p>
          <a:p>
            <a:r>
              <a:rPr b="1" sz="950">
                <a:solidFill>
                  <a:srgbClr val="FFFFFF"/>
                </a:solidFill>
                <a:latin typeface="Calibri"/>
              </a:rPr>
              <a:t>Team Name:  </a:t>
            </a:r>
            <a:r>
              <a:rPr b="0" sz="950">
                <a:solidFill>
                  <a:srgbClr val="C0D8F5"/>
                </a:solidFill>
                <a:latin typeface="Calibri"/>
              </a:rPr>
              <a:t>Team Sovereign</a:t>
            </a:r>
          </a:p>
          <a:p>
            <a:pPr>
              <a:spcAft>
                <a:spcPts val="100"/>
              </a:spcAft>
            </a:p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47472" y="4251960"/>
            <a:ext cx="5852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 MEMBERS &amp; DOMAIN OWNERSHIP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4434840"/>
            <a:ext cx="5852160" cy="13716"/>
          </a:xfrm>
          <a:prstGeom prst="rect">
            <a:avLst/>
          </a:prstGeom>
          <a:solidFill>
            <a:srgbClr val="7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47472" y="4471416"/>
            <a:ext cx="5852160" cy="228600"/>
          </a:xfrm>
          <a:prstGeom prst="rect">
            <a:avLst/>
          </a:prstGeom>
          <a:solidFill>
            <a:srgbClr val="0C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449884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Punit Raveendran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75104" y="449884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5F0"/>
                </a:solidFill>
                <a:latin typeface="Calibri"/>
              </a:rPr>
              <a:t>Team Lead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4498848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0B8D8"/>
                </a:solidFill>
                <a:latin typeface="Calibri"/>
              </a:rPr>
              <a:t>Agent Core (LangGraph) · Neural Router · Crypto Security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4718304"/>
            <a:ext cx="5852160" cy="2286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4745736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Manoj [Last Name]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75104" y="474573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745736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0B8D8"/>
                </a:solidFill>
                <a:latin typeface="Calibri"/>
              </a:rPr>
              <a:t>Microservices · Chroma Vector RAG · Document Generator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4965192"/>
            <a:ext cx="5852160" cy="228600"/>
          </a:xfrm>
          <a:prstGeom prst="rect">
            <a:avLst/>
          </a:prstGeom>
          <a:solidFill>
            <a:srgbClr val="0C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4992624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Aparna [Last Name]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75104" y="4992624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651760" y="4992624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0B8D8"/>
                </a:solidFill>
                <a:latin typeface="Calibri"/>
              </a:rPr>
              <a:t>Multimodal Pipeline · RapidOCR · Vision-Language Inference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7472" y="5212080"/>
            <a:ext cx="5852160" cy="2286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5239512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[Member 4]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75104" y="52395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1760" y="5239512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0B8D8"/>
                </a:solidFill>
                <a:latin typeface="Calibri"/>
              </a:rPr>
              <a:t>Sandbox Execution · Security Policy · Container Hardening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" y="5458968"/>
            <a:ext cx="5852160" cy="228600"/>
          </a:xfrm>
          <a:prstGeom prst="rect">
            <a:avLst/>
          </a:prstGeom>
          <a:solidFill>
            <a:srgbClr val="0C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38912" y="54864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[Member 5]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75104" y="5486400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51760" y="5486400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0B8D8"/>
                </a:solidFill>
                <a:latin typeface="Calibri"/>
              </a:rPr>
              <a:t>Industrial Compliance · UI/UX · Edge Evaluation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" y="5705856"/>
            <a:ext cx="5852160" cy="228600"/>
          </a:xfrm>
          <a:prstGeom prst="rect">
            <a:avLst/>
          </a:prstGeom>
          <a:solidFill>
            <a:srgbClr val="14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8912" y="5733288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[Member 6]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75104" y="57332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EC5F0"/>
                </a:solidFill>
                <a:latin typeface="Calibri"/>
              </a:rPr>
              <a:t>Member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651760" y="5733288"/>
            <a:ext cx="3520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0B8D8"/>
                </a:solidFill>
                <a:latin typeface="Calibri"/>
              </a:rPr>
              <a:t>QA · Benchmark Verification · Hardware Telemetry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42519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INSTITUTION &amp; REPOSITORY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675120" y="4434840"/>
            <a:ext cx="2286000" cy="13716"/>
          </a:xfrm>
          <a:prstGeom prst="rect">
            <a:avLst/>
          </a:prstGeom>
          <a:solidFill>
            <a:srgbClr val="70A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75120" y="4480560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D8F5"/>
                </a:solidFill>
                <a:latin typeface="Calibri"/>
              </a:rPr>
              <a:t>[Your College / University Name]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75120" y="4727448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D8F5"/>
                </a:solidFill>
                <a:latin typeface="Calibri"/>
              </a:rPr>
              <a:t>[City, State]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75120" y="4974336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D8F5"/>
                </a:solidFill>
                <a:latin typeface="Calibri"/>
              </a:rPr>
              <a:t>github.com/[handle]/sovereign-ai-workbench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675120" y="522122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D8F5"/>
                </a:solidFill>
                <a:latin typeface="Calibri"/>
              </a:rPr>
              <a:t>MIT Open Source — Fully Reproducible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1A355E"/>
                </a:solidFill>
                <a:latin typeface="Calibri"/>
              </a:rPr>
              <a:t>SOVEREIGN — Proposed Solution &amp; Key Features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 b="1"/>
              <a:t>Team Sovereign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TextBox 15362"/>
          <p:cNvSpPr txBox="1"/>
          <p:nvPr/>
        </p:nvSpPr>
        <p:spPr>
          <a:xfrm>
            <a:off x="91440" y="11887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53A30"/>
                </a:solidFill>
                <a:latin typeface="Calibri"/>
              </a:rPr>
              <a:t>The Industrial Problem</a:t>
            </a:r>
          </a:p>
        </p:txBody>
      </p:sp>
      <p:sp>
        <p:nvSpPr>
          <p:cNvPr id="15364" name="Rectangle 15363"/>
          <p:cNvSpPr/>
          <p:nvPr/>
        </p:nvSpPr>
        <p:spPr>
          <a:xfrm>
            <a:off x="91440" y="1426464"/>
            <a:ext cx="985723" cy="13716"/>
          </a:xfrm>
          <a:prstGeom prst="rect">
            <a:avLst/>
          </a:prstGeom>
          <a:solidFill>
            <a:srgbClr val="B5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5" name="Rectangle 15364"/>
          <p:cNvSpPr/>
          <p:nvPr/>
        </p:nvSpPr>
        <p:spPr>
          <a:xfrm>
            <a:off x="91440" y="1463040"/>
            <a:ext cx="3520440" cy="1078992"/>
          </a:xfrm>
          <a:prstGeom prst="rect">
            <a:avLst/>
          </a:prstGeom>
          <a:solidFill>
            <a:srgbClr val="FBECEB"/>
          </a:solidFill>
          <a:ln w="7620">
            <a:solidFill>
              <a:srgbClr val="D9B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6" name="Rectangle 15365"/>
          <p:cNvSpPr/>
          <p:nvPr/>
        </p:nvSpPr>
        <p:spPr>
          <a:xfrm>
            <a:off x="91440" y="1463040"/>
            <a:ext cx="50292" cy="1078992"/>
          </a:xfrm>
          <a:prstGeom prst="rect">
            <a:avLst/>
          </a:prstGeom>
          <a:solidFill>
            <a:srgbClr val="B5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201168" y="1545336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3A30"/>
                </a:solidFill>
                <a:latin typeface="Calibri"/>
              </a:rPr>
              <a:t>Cloud Leakage &amp; Air-Gap Violations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201168" y="1764792"/>
            <a:ext cx="3310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  Defense &amp; nuclear facilities cannot send data to OpenAI/Anthropic.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201168" y="1947672"/>
            <a:ext cx="3310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  Commercial cloud AI = catastrophic IP leakage risk.</a:t>
            </a:r>
          </a:p>
        </p:txBody>
      </p:sp>
      <p:sp>
        <p:nvSpPr>
          <p:cNvPr id="15370" name="Rectangle 15369"/>
          <p:cNvSpPr/>
          <p:nvPr/>
        </p:nvSpPr>
        <p:spPr>
          <a:xfrm>
            <a:off x="91440" y="2587752"/>
            <a:ext cx="3520440" cy="1078992"/>
          </a:xfrm>
          <a:prstGeom prst="rect">
            <a:avLst/>
          </a:prstGeom>
          <a:solidFill>
            <a:srgbClr val="FFF3F2"/>
          </a:solidFill>
          <a:ln w="7620">
            <a:solidFill>
              <a:srgbClr val="D9B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Rectangle 15370"/>
          <p:cNvSpPr/>
          <p:nvPr/>
        </p:nvSpPr>
        <p:spPr>
          <a:xfrm>
            <a:off x="91440" y="2587752"/>
            <a:ext cx="50292" cy="1078992"/>
          </a:xfrm>
          <a:prstGeom prst="rect">
            <a:avLst/>
          </a:prstGeom>
          <a:solidFill>
            <a:srgbClr val="B5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201168" y="2670048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3A30"/>
                </a:solidFill>
                <a:latin typeface="Calibri"/>
              </a:rPr>
              <a:t>Data-Layer Flattening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201168" y="2889504"/>
            <a:ext cx="3310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  Standard LLMs ignore org hierarchy.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201168" y="3072384"/>
            <a:ext cx="3310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  Junior staff can extract board-level confidential data via prompting.</a:t>
            </a:r>
          </a:p>
        </p:txBody>
      </p:sp>
      <p:sp>
        <p:nvSpPr>
          <p:cNvPr id="15375" name="Rectangle 15374"/>
          <p:cNvSpPr/>
          <p:nvPr/>
        </p:nvSpPr>
        <p:spPr>
          <a:xfrm>
            <a:off x="91440" y="3712464"/>
            <a:ext cx="3520440" cy="1078992"/>
          </a:xfrm>
          <a:prstGeom prst="rect">
            <a:avLst/>
          </a:prstGeom>
          <a:solidFill>
            <a:srgbClr val="FBECEB"/>
          </a:solidFill>
          <a:ln w="7620">
            <a:solidFill>
              <a:srgbClr val="D9B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ectangle 15375"/>
          <p:cNvSpPr/>
          <p:nvPr/>
        </p:nvSpPr>
        <p:spPr>
          <a:xfrm>
            <a:off x="91440" y="3712464"/>
            <a:ext cx="50292" cy="1078992"/>
          </a:xfrm>
          <a:prstGeom prst="rect">
            <a:avLst/>
          </a:prstGeom>
          <a:solidFill>
            <a:srgbClr val="B5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201168" y="3794760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3A30"/>
                </a:solidFill>
                <a:latin typeface="Calibri"/>
              </a:rPr>
              <a:t>Hallucinated Engineering Metrics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201168" y="4014216"/>
            <a:ext cx="3310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  AI fabricates tolerances, torque values, pitting depth.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201168" y="4197096"/>
            <a:ext cx="3310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  Wrong numbers in industrial reports cause plant failures.</a:t>
            </a:r>
          </a:p>
        </p:txBody>
      </p:sp>
      <p:sp>
        <p:nvSpPr>
          <p:cNvPr id="15380" name="Rectangle 15379"/>
          <p:cNvSpPr/>
          <p:nvPr/>
        </p:nvSpPr>
        <p:spPr>
          <a:xfrm>
            <a:off x="91440" y="4837176"/>
            <a:ext cx="3520440" cy="1078992"/>
          </a:xfrm>
          <a:prstGeom prst="rect">
            <a:avLst/>
          </a:prstGeom>
          <a:solidFill>
            <a:srgbClr val="FFF3F2"/>
          </a:solidFill>
          <a:ln w="7620">
            <a:solidFill>
              <a:srgbClr val="D9B0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Rectangle 15380"/>
          <p:cNvSpPr/>
          <p:nvPr/>
        </p:nvSpPr>
        <p:spPr>
          <a:xfrm>
            <a:off x="91440" y="4837176"/>
            <a:ext cx="50292" cy="1078992"/>
          </a:xfrm>
          <a:prstGeom prst="rect">
            <a:avLst/>
          </a:prstGeom>
          <a:solidFill>
            <a:srgbClr val="B5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TextBox 15381"/>
          <p:cNvSpPr txBox="1"/>
          <p:nvPr/>
        </p:nvSpPr>
        <p:spPr>
          <a:xfrm>
            <a:off x="201168" y="4919472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3A30"/>
                </a:solidFill>
                <a:latin typeface="Calibri"/>
              </a:rPr>
              <a:t>Zero Offline Resilience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201168" y="5138928"/>
            <a:ext cx="3310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  Cloud-reliant wrappers fail when field networks drop.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201168" y="5321808"/>
            <a:ext cx="331012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  No air-gap compliance, no continuity in bunkers or rigs.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3703320" y="1188720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5E"/>
                </a:solidFill>
                <a:latin typeface="Calibri"/>
              </a:rPr>
              <a:t>How SOVEREIGN Solves It</a:t>
            </a:r>
          </a:p>
        </p:txBody>
      </p:sp>
      <p:sp>
        <p:nvSpPr>
          <p:cNvPr id="15386" name="Rectangle 15385"/>
          <p:cNvSpPr/>
          <p:nvPr/>
        </p:nvSpPr>
        <p:spPr>
          <a:xfrm>
            <a:off x="3703320" y="1426464"/>
            <a:ext cx="1344168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7" name="Rectangle 15386"/>
          <p:cNvSpPr/>
          <p:nvPr/>
        </p:nvSpPr>
        <p:spPr>
          <a:xfrm>
            <a:off x="3703320" y="1463040"/>
            <a:ext cx="4800600" cy="786384"/>
          </a:xfrm>
          <a:prstGeom prst="rect">
            <a:avLst/>
          </a:prstGeom>
          <a:solidFill>
            <a:srgbClr val="E8EFF8"/>
          </a:solidFill>
          <a:ln w="1016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ectangle 15387"/>
          <p:cNvSpPr/>
          <p:nvPr/>
        </p:nvSpPr>
        <p:spPr>
          <a:xfrm>
            <a:off x="3730752" y="1600200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9" name="TextBox 15388"/>
          <p:cNvSpPr txBox="1"/>
          <p:nvPr/>
        </p:nvSpPr>
        <p:spPr>
          <a:xfrm>
            <a:off x="3730752" y="160020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5390" name="TextBox 15389"/>
          <p:cNvSpPr txBox="1"/>
          <p:nvPr/>
        </p:nvSpPr>
        <p:spPr>
          <a:xfrm>
            <a:off x="4133087" y="1700784"/>
            <a:ext cx="4315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62A"/>
                </a:solidFill>
                <a:latin typeface="Calibri"/>
              </a:rPr>
              <a:t>Inspector uploads scanned report or gauge photo</a:t>
            </a:r>
          </a:p>
        </p:txBody>
      </p:sp>
      <p:sp>
        <p:nvSpPr>
          <p:cNvPr id="15391" name="TextBox 15390"/>
          <p:cNvSpPr txBox="1"/>
          <p:nvPr/>
        </p:nvSpPr>
        <p:spPr>
          <a:xfrm>
            <a:off x="4160520" y="2267712"/>
            <a:ext cx="2286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25C68"/>
                </a:solidFill>
                <a:latin typeface="Calibri"/>
              </a:rPr>
              <a:t>↓</a:t>
            </a:r>
          </a:p>
        </p:txBody>
      </p:sp>
      <p:sp>
        <p:nvSpPr>
          <p:cNvPr id="15392" name="Rectangle 15391"/>
          <p:cNvSpPr/>
          <p:nvPr/>
        </p:nvSpPr>
        <p:spPr>
          <a:xfrm>
            <a:off x="3703320" y="2304288"/>
            <a:ext cx="4800600" cy="786384"/>
          </a:xfrm>
          <a:prstGeom prst="rect">
            <a:avLst/>
          </a:prstGeom>
          <a:solidFill>
            <a:srgbClr val="E5F5F6"/>
          </a:solidFill>
          <a:ln w="1016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3" name="Rectangle 15392"/>
          <p:cNvSpPr/>
          <p:nvPr/>
        </p:nvSpPr>
        <p:spPr>
          <a:xfrm>
            <a:off x="3730752" y="2441448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4" name="TextBox 15393"/>
          <p:cNvSpPr txBox="1"/>
          <p:nvPr/>
        </p:nvSpPr>
        <p:spPr>
          <a:xfrm>
            <a:off x="3730752" y="24414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4133087" y="2542032"/>
            <a:ext cx="4315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62A"/>
                </a:solidFill>
                <a:latin typeface="Calibri"/>
              </a:rPr>
              <a:t>RapidOCR (PP-OCRv4) extracts readings 100% on-device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4160520" y="3108960"/>
            <a:ext cx="2286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25C68"/>
                </a:solidFill>
                <a:latin typeface="Calibri"/>
              </a:rPr>
              <a:t>↓</a:t>
            </a:r>
          </a:p>
        </p:txBody>
      </p:sp>
      <p:sp>
        <p:nvSpPr>
          <p:cNvPr id="15397" name="Rectangle 15396"/>
          <p:cNvSpPr/>
          <p:nvPr/>
        </p:nvSpPr>
        <p:spPr>
          <a:xfrm>
            <a:off x="3703320" y="3145536"/>
            <a:ext cx="4800600" cy="786384"/>
          </a:xfrm>
          <a:prstGeom prst="rect">
            <a:avLst/>
          </a:prstGeom>
          <a:solidFill>
            <a:srgbClr val="E8EFF8"/>
          </a:solidFill>
          <a:ln w="1016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8" name="Rectangle 15397"/>
          <p:cNvSpPr/>
          <p:nvPr/>
        </p:nvSpPr>
        <p:spPr>
          <a:xfrm>
            <a:off x="3730752" y="3282696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3730752" y="3282696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4133087" y="3383280"/>
            <a:ext cx="4315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62A"/>
                </a:solidFill>
                <a:latin typeface="Calibri"/>
              </a:rPr>
              <a:t>LangGraph Agent: Plan → Act → Observe → Critique</a:t>
            </a:r>
          </a:p>
        </p:txBody>
      </p:sp>
      <p:sp>
        <p:nvSpPr>
          <p:cNvPr id="15401" name="TextBox 15400"/>
          <p:cNvSpPr txBox="1"/>
          <p:nvPr/>
        </p:nvSpPr>
        <p:spPr>
          <a:xfrm>
            <a:off x="4160520" y="3950208"/>
            <a:ext cx="2286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25C68"/>
                </a:solidFill>
                <a:latin typeface="Calibri"/>
              </a:rPr>
              <a:t>↓</a:t>
            </a:r>
          </a:p>
        </p:txBody>
      </p:sp>
      <p:sp>
        <p:nvSpPr>
          <p:cNvPr id="15402" name="Rectangle 15401"/>
          <p:cNvSpPr/>
          <p:nvPr/>
        </p:nvSpPr>
        <p:spPr>
          <a:xfrm>
            <a:off x="3703320" y="3986784"/>
            <a:ext cx="4800600" cy="786384"/>
          </a:xfrm>
          <a:prstGeom prst="rect">
            <a:avLst/>
          </a:prstGeom>
          <a:solidFill>
            <a:srgbClr val="E5F5F6"/>
          </a:solidFill>
          <a:ln w="1016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Rectangle 15402"/>
          <p:cNvSpPr/>
          <p:nvPr/>
        </p:nvSpPr>
        <p:spPr>
          <a:xfrm>
            <a:off x="3730752" y="4123944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4" name="TextBox 15403"/>
          <p:cNvSpPr txBox="1"/>
          <p:nvPr/>
        </p:nvSpPr>
        <p:spPr>
          <a:xfrm>
            <a:off x="3730752" y="412394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405" name="TextBox 15404"/>
          <p:cNvSpPr txBox="1"/>
          <p:nvPr/>
        </p:nvSpPr>
        <p:spPr>
          <a:xfrm>
            <a:off x="4133087" y="4224528"/>
            <a:ext cx="4315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62A"/>
                </a:solidFill>
                <a:latin typeface="Calibri"/>
              </a:rPr>
              <a:t>Agent cross-checks values vs. plant SOP knowledge base</a:t>
            </a:r>
          </a:p>
        </p:txBody>
      </p:sp>
      <p:sp>
        <p:nvSpPr>
          <p:cNvPr id="15406" name="TextBox 15405"/>
          <p:cNvSpPr txBox="1"/>
          <p:nvPr/>
        </p:nvSpPr>
        <p:spPr>
          <a:xfrm>
            <a:off x="4160520" y="4791456"/>
            <a:ext cx="2286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525C68"/>
                </a:solidFill>
                <a:latin typeface="Calibri"/>
              </a:rPr>
              <a:t>↓</a:t>
            </a:r>
          </a:p>
        </p:txBody>
      </p:sp>
      <p:sp>
        <p:nvSpPr>
          <p:cNvPr id="15407" name="Rectangle 15406"/>
          <p:cNvSpPr/>
          <p:nvPr/>
        </p:nvSpPr>
        <p:spPr>
          <a:xfrm>
            <a:off x="3703320" y="4828032"/>
            <a:ext cx="4800600" cy="786384"/>
          </a:xfrm>
          <a:prstGeom prst="rect">
            <a:avLst/>
          </a:prstGeom>
          <a:solidFill>
            <a:srgbClr val="E8F5F0"/>
          </a:solidFill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8" name="Rectangle 15407"/>
          <p:cNvSpPr/>
          <p:nvPr/>
        </p:nvSpPr>
        <p:spPr>
          <a:xfrm>
            <a:off x="3730752" y="4965192"/>
            <a:ext cx="329184" cy="329184"/>
          </a:xfrm>
          <a:prstGeom prst="roundRect">
            <a:avLst>
              <a:gd name="adj" fmla="val 16000"/>
            </a:avLst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9" name="TextBox 15408"/>
          <p:cNvSpPr txBox="1"/>
          <p:nvPr/>
        </p:nvSpPr>
        <p:spPr>
          <a:xfrm>
            <a:off x="3730752" y="496519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410" name="TextBox 15409"/>
          <p:cNvSpPr txBox="1"/>
          <p:nvPr/>
        </p:nvSpPr>
        <p:spPr>
          <a:xfrm>
            <a:off x="4133087" y="5065776"/>
            <a:ext cx="43159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2262A"/>
                </a:solidFill>
                <a:latin typeface="Calibri"/>
              </a:rPr>
              <a:t>Outputs verified, formatted .docx compliance note</a:t>
            </a:r>
          </a:p>
        </p:txBody>
      </p:sp>
      <p:sp>
        <p:nvSpPr>
          <p:cNvPr id="15411" name="Rectangle 15410"/>
          <p:cNvSpPr/>
          <p:nvPr/>
        </p:nvSpPr>
        <p:spPr>
          <a:xfrm>
            <a:off x="3703320" y="5724144"/>
            <a:ext cx="4800600" cy="530352"/>
          </a:xfrm>
          <a:prstGeom prst="rect">
            <a:avLst/>
          </a:prstGeom>
          <a:solidFill>
            <a:srgbClr val="E8EFF8"/>
          </a:solidFill>
          <a:ln w="1270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2" name="TextBox 15411"/>
          <p:cNvSpPr txBox="1"/>
          <p:nvPr/>
        </p:nvSpPr>
        <p:spPr>
          <a:xfrm>
            <a:off x="3794760" y="5779008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Why SOVEREIGN stands out: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3794760" y="5971032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25C68"/>
                </a:solidFill>
                <a:latin typeface="Calibri"/>
              </a:rPr>
              <a:t>100% on-device  ·  Refuses to fabricate numbers  ·  RBAC at data-layer, not prompt-layer  ·  SHA-256 audit chain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8595360" y="1188720"/>
            <a:ext cx="3520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5E"/>
                </a:solidFill>
                <a:latin typeface="Calibri"/>
              </a:rPr>
              <a:t>Key Features</a:t>
            </a:r>
          </a:p>
        </p:txBody>
      </p:sp>
      <p:sp>
        <p:nvSpPr>
          <p:cNvPr id="15415" name="Rectangle 15414"/>
          <p:cNvSpPr/>
          <p:nvPr/>
        </p:nvSpPr>
        <p:spPr>
          <a:xfrm>
            <a:off x="8595360" y="1426464"/>
            <a:ext cx="985723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6" name="Rectangle 15415"/>
          <p:cNvSpPr/>
          <p:nvPr/>
        </p:nvSpPr>
        <p:spPr>
          <a:xfrm>
            <a:off x="8595360" y="1463040"/>
            <a:ext cx="3520440" cy="749808"/>
          </a:xfrm>
          <a:prstGeom prst="rect">
            <a:avLst/>
          </a:prstGeom>
          <a:solidFill>
            <a:srgbClr val="E8EFF8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7" name="Rectangle 15416"/>
          <p:cNvSpPr/>
          <p:nvPr/>
        </p:nvSpPr>
        <p:spPr>
          <a:xfrm>
            <a:off x="8595360" y="1463040"/>
            <a:ext cx="50292" cy="74980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8" name="TextBox 15417"/>
          <p:cNvSpPr txBox="1"/>
          <p:nvPr/>
        </p:nvSpPr>
        <p:spPr>
          <a:xfrm>
            <a:off x="8705088" y="1536192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Zero-Bypass RBAC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705088" y="1773936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Chunk-level access policies enforced at retrieval, not bypassable via prompting.</a:t>
            </a:r>
          </a:p>
        </p:txBody>
      </p:sp>
      <p:sp>
        <p:nvSpPr>
          <p:cNvPr id="15420" name="Rectangle 15419"/>
          <p:cNvSpPr/>
          <p:nvPr/>
        </p:nvSpPr>
        <p:spPr>
          <a:xfrm>
            <a:off x="8595360" y="2267712"/>
            <a:ext cx="3520440" cy="749808"/>
          </a:xfrm>
          <a:prstGeom prst="rect">
            <a:avLst/>
          </a:prstGeom>
          <a:noFill/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1" name="Rectangle 15420"/>
          <p:cNvSpPr/>
          <p:nvPr/>
        </p:nvSpPr>
        <p:spPr>
          <a:xfrm>
            <a:off x="8595360" y="2267712"/>
            <a:ext cx="50292" cy="749808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2" name="TextBox 15421"/>
          <p:cNvSpPr txBox="1"/>
          <p:nvPr/>
        </p:nvSpPr>
        <p:spPr>
          <a:xfrm>
            <a:off x="8705088" y="2340864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78F"/>
                </a:solidFill>
                <a:latin typeface="Calibri"/>
              </a:rPr>
              <a:t>LangGraph Agentic Loop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8705088" y="2578608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Plan → Act → Observe → Critique with automatic self-correction.</a:t>
            </a:r>
          </a:p>
        </p:txBody>
      </p:sp>
      <p:sp>
        <p:nvSpPr>
          <p:cNvPr id="15424" name="Rectangle 15423"/>
          <p:cNvSpPr/>
          <p:nvPr/>
        </p:nvSpPr>
        <p:spPr>
          <a:xfrm>
            <a:off x="8595360" y="3072384"/>
            <a:ext cx="3520440" cy="749808"/>
          </a:xfrm>
          <a:prstGeom prst="rect">
            <a:avLst/>
          </a:prstGeom>
          <a:solidFill>
            <a:srgbClr val="E8EFF8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5" name="Rectangle 15424"/>
          <p:cNvSpPr/>
          <p:nvPr/>
        </p:nvSpPr>
        <p:spPr>
          <a:xfrm>
            <a:off x="8595360" y="3072384"/>
            <a:ext cx="50292" cy="749808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6" name="TextBox 15425"/>
          <p:cNvSpPr txBox="1"/>
          <p:nvPr/>
        </p:nvSpPr>
        <p:spPr>
          <a:xfrm>
            <a:off x="8705088" y="3145536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7A60"/>
                </a:solidFill>
                <a:latin typeface="Calibri"/>
              </a:rPr>
              <a:t>Native Office Output</a:t>
            </a:r>
          </a:p>
        </p:txBody>
      </p:sp>
      <p:sp>
        <p:nvSpPr>
          <p:cNvPr id="15427" name="TextBox 15426"/>
          <p:cNvSpPr txBox="1"/>
          <p:nvPr/>
        </p:nvSpPr>
        <p:spPr>
          <a:xfrm>
            <a:off x="8705088" y="3383280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Directly generates .docx approval notes, .pptx, and .xlsx reports.</a:t>
            </a:r>
          </a:p>
        </p:txBody>
      </p:sp>
      <p:sp>
        <p:nvSpPr>
          <p:cNvPr id="15428" name="Rectangle 15427"/>
          <p:cNvSpPr/>
          <p:nvPr/>
        </p:nvSpPr>
        <p:spPr>
          <a:xfrm>
            <a:off x="8595360" y="3877056"/>
            <a:ext cx="3520440" cy="749808"/>
          </a:xfrm>
          <a:prstGeom prst="rect">
            <a:avLst/>
          </a:prstGeom>
          <a:noFill/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29" name="Rectangle 15428"/>
          <p:cNvSpPr/>
          <p:nvPr/>
        </p:nvSpPr>
        <p:spPr>
          <a:xfrm>
            <a:off x="8595360" y="3877056"/>
            <a:ext cx="50292" cy="74980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0" name="TextBox 15429"/>
          <p:cNvSpPr txBox="1"/>
          <p:nvPr/>
        </p:nvSpPr>
        <p:spPr>
          <a:xfrm>
            <a:off x="8705088" y="3950208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On-Device OCR</a:t>
            </a:r>
          </a:p>
        </p:txBody>
      </p:sp>
      <p:sp>
        <p:nvSpPr>
          <p:cNvPr id="15431" name="TextBox 15430"/>
          <p:cNvSpPr txBox="1"/>
          <p:nvPr/>
        </p:nvSpPr>
        <p:spPr>
          <a:xfrm>
            <a:off x="8705088" y="4187952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RapidOCR PP-OCRv4 ONNX — sub-100 ms, CPU/DirectML, no cloud dependency.</a:t>
            </a:r>
          </a:p>
        </p:txBody>
      </p:sp>
      <p:sp>
        <p:nvSpPr>
          <p:cNvPr id="15432" name="Rectangle 15431"/>
          <p:cNvSpPr/>
          <p:nvPr/>
        </p:nvSpPr>
        <p:spPr>
          <a:xfrm>
            <a:off x="8595360" y="4681728"/>
            <a:ext cx="3520440" cy="749808"/>
          </a:xfrm>
          <a:prstGeom prst="rect">
            <a:avLst/>
          </a:prstGeom>
          <a:solidFill>
            <a:srgbClr val="E8EFF8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3" name="Rectangle 15432"/>
          <p:cNvSpPr/>
          <p:nvPr/>
        </p:nvSpPr>
        <p:spPr>
          <a:xfrm>
            <a:off x="8595360" y="4681728"/>
            <a:ext cx="50292" cy="749808"/>
          </a:xfrm>
          <a:prstGeom prst="rect">
            <a:avLst/>
          </a:prstGeom>
          <a:solidFill>
            <a:srgbClr val="B5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4" name="TextBox 15433"/>
          <p:cNvSpPr txBox="1"/>
          <p:nvPr/>
        </p:nvSpPr>
        <p:spPr>
          <a:xfrm>
            <a:off x="8705088" y="4754880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B53A30"/>
                </a:solidFill>
                <a:latin typeface="Calibri"/>
              </a:rPr>
              <a:t>Self-Critique Guard</a:t>
            </a:r>
          </a:p>
        </p:txBody>
      </p:sp>
      <p:sp>
        <p:nvSpPr>
          <p:cNvPr id="15435" name="TextBox 15434"/>
          <p:cNvSpPr txBox="1"/>
          <p:nvPr/>
        </p:nvSpPr>
        <p:spPr>
          <a:xfrm>
            <a:off x="8705088" y="4992624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Auto-flags [LOW CONFIDENCE] if output lacks grounded optical evidence.</a:t>
            </a:r>
          </a:p>
        </p:txBody>
      </p:sp>
      <p:sp>
        <p:nvSpPr>
          <p:cNvPr id="15436" name="Rectangle 15435"/>
          <p:cNvSpPr/>
          <p:nvPr/>
        </p:nvSpPr>
        <p:spPr>
          <a:xfrm>
            <a:off x="8595360" y="5486400"/>
            <a:ext cx="3520440" cy="749808"/>
          </a:xfrm>
          <a:prstGeom prst="rect">
            <a:avLst/>
          </a:prstGeom>
          <a:noFill/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7" name="Rectangle 15436"/>
          <p:cNvSpPr/>
          <p:nvPr/>
        </p:nvSpPr>
        <p:spPr>
          <a:xfrm>
            <a:off x="8595360" y="5486400"/>
            <a:ext cx="50292" cy="749808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38" name="TextBox 15437"/>
          <p:cNvSpPr txBox="1"/>
          <p:nvPr/>
        </p:nvSpPr>
        <p:spPr>
          <a:xfrm>
            <a:off x="8705088" y="5559552"/>
            <a:ext cx="33101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878F"/>
                </a:solidFill>
                <a:latin typeface="Calibri"/>
              </a:rPr>
              <a:t>Hardened Sandbox</a:t>
            </a:r>
          </a:p>
        </p:txBody>
      </p:sp>
      <p:sp>
        <p:nvSpPr>
          <p:cNvPr id="15439" name="TextBox 15438"/>
          <p:cNvSpPr txBox="1"/>
          <p:nvPr/>
        </p:nvSpPr>
        <p:spPr>
          <a:xfrm>
            <a:off x="8705088" y="5797296"/>
            <a:ext cx="3310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1 GB RAM subprocess — no network access, no file-system escape.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1A355E"/>
                </a:solidFill>
                <a:latin typeface="Calibri"/>
              </a:rPr>
              <a:t>Technical Approach &amp; System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 b="1"/>
              <a:t>Team Sovereign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73152" y="1170432"/>
            <a:ext cx="2907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5E"/>
                </a:solidFill>
                <a:latin typeface="Calibri"/>
              </a:rPr>
              <a:t>Technology Stack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73152" y="1408176"/>
            <a:ext cx="814181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73152" y="1444752"/>
            <a:ext cx="2907792" cy="640080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TextBox 17413"/>
          <p:cNvSpPr txBox="1"/>
          <p:nvPr/>
        </p:nvSpPr>
        <p:spPr>
          <a:xfrm>
            <a:off x="164592" y="149961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Inference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64592" y="1719072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llama.cpp · CUDA 12 / Vulkan · 65 tok/s RTX 4050</a:t>
            </a:r>
          </a:p>
        </p:txBody>
      </p:sp>
      <p:sp>
        <p:nvSpPr>
          <p:cNvPr id="17416" name="Rectangle 17415"/>
          <p:cNvSpPr/>
          <p:nvPr/>
        </p:nvSpPr>
        <p:spPr>
          <a:xfrm>
            <a:off x="73152" y="2121408"/>
            <a:ext cx="2907792" cy="640080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164592" y="2176272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Orchestration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64592" y="2395728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FastAPI + LangGraph State Machine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73152" y="2798064"/>
            <a:ext cx="2907792" cy="640080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164592" y="2852928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Vector Store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64592" y="3072384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ChromaDB local · BGE dense embeddings</a:t>
            </a:r>
          </a:p>
        </p:txBody>
      </p:sp>
      <p:sp>
        <p:nvSpPr>
          <p:cNvPr id="17422" name="Rectangle 17421"/>
          <p:cNvSpPr/>
          <p:nvPr/>
        </p:nvSpPr>
        <p:spPr>
          <a:xfrm>
            <a:off x="73152" y="3474720"/>
            <a:ext cx="2907792" cy="640080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164592" y="3529584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OCR Engine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64592" y="3749039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RapidOCR PP-OCRv4 ONNX · &lt;100 ms on CPU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73152" y="4151376"/>
            <a:ext cx="2907792" cy="640080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TextBox 17425"/>
          <p:cNvSpPr txBox="1"/>
          <p:nvPr/>
        </p:nvSpPr>
        <p:spPr>
          <a:xfrm>
            <a:off x="164592" y="4206240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Models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64592" y="4425696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Nemotron-3 Nano / Granite 4.1 8B / Qwen2.5-VL-7B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73152" y="4828032"/>
            <a:ext cx="2907792" cy="640080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164592" y="4882896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Code Sandbox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164592" y="5102352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Subprocess · 1 GB RAM · --network none</a:t>
            </a:r>
          </a:p>
        </p:txBody>
      </p:sp>
      <p:sp>
        <p:nvSpPr>
          <p:cNvPr id="17431" name="Rectangle 17430"/>
          <p:cNvSpPr/>
          <p:nvPr/>
        </p:nvSpPr>
        <p:spPr>
          <a:xfrm>
            <a:off x="73152" y="5504688"/>
            <a:ext cx="2907792" cy="640080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164592" y="5559551"/>
            <a:ext cx="27249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Hardware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64592" y="5779007"/>
            <a:ext cx="27249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RTX 3060–5050 · 6–8 GB VRAM · 16 GB RAM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3044952" y="1170432"/>
            <a:ext cx="6144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5E"/>
                </a:solidFill>
                <a:latin typeface="Calibri"/>
              </a:rPr>
              <a:t>End-to-End Architecture Flow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3044952" y="1408176"/>
            <a:ext cx="1720535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ectangle 17435"/>
          <p:cNvSpPr/>
          <p:nvPr/>
        </p:nvSpPr>
        <p:spPr>
          <a:xfrm>
            <a:off x="3044952" y="1444752"/>
            <a:ext cx="6144768" cy="896112"/>
          </a:xfrm>
          <a:prstGeom prst="rect">
            <a:avLst/>
          </a:prstGeom>
          <a:solidFill>
            <a:srgbClr val="E5F5F6"/>
          </a:solidFill>
          <a:ln w="1524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Rectangle 17436"/>
          <p:cNvSpPr/>
          <p:nvPr/>
        </p:nvSpPr>
        <p:spPr>
          <a:xfrm>
            <a:off x="3044952" y="1444752"/>
            <a:ext cx="64008" cy="89611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3172968" y="1499616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78F"/>
                </a:solidFill>
                <a:latin typeface="Calibri"/>
              </a:rPr>
              <a:t>1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3502152" y="1499616"/>
            <a:ext cx="5596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8F"/>
                </a:solidFill>
                <a:latin typeface="Calibri"/>
              </a:rPr>
              <a:t>MULTIMODAL INGESTION LAYER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3502152" y="1755648"/>
            <a:ext cx="5596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Scanned PDFs · Valve Photos · P&amp;ID Drawings · Text Logs
→ RapidOCR (PP-OCRv4 ONNX) produces Grounded Optical Telemetry String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5980175" y="2286000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25C68"/>
                </a:solidFill>
                <a:latin typeface="Calibri"/>
              </a:rPr>
              <a:t>↓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3044952" y="2395728"/>
            <a:ext cx="6144768" cy="896112"/>
          </a:xfrm>
          <a:prstGeom prst="rect">
            <a:avLst/>
          </a:prstGeom>
          <a:solidFill>
            <a:srgbClr val="E8EFF8"/>
          </a:solidFill>
          <a:ln w="1524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Rectangle 17442"/>
          <p:cNvSpPr/>
          <p:nvPr/>
        </p:nvSpPr>
        <p:spPr>
          <a:xfrm>
            <a:off x="3044952" y="2395728"/>
            <a:ext cx="64008" cy="896112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TextBox 17443"/>
          <p:cNvSpPr txBox="1"/>
          <p:nvPr/>
        </p:nvSpPr>
        <p:spPr>
          <a:xfrm>
            <a:off x="3172968" y="2450592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55E"/>
                </a:solidFill>
                <a:latin typeface="Calibri"/>
              </a:rPr>
              <a:t>2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3502152" y="2450592"/>
            <a:ext cx="5596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55E"/>
                </a:solidFill>
                <a:latin typeface="Calibri"/>
              </a:rPr>
              <a:t>NEURAL TASK ROUTING &amp; DISPATCH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3502152" y="2706624"/>
            <a:ext cx="5596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Intent classifier &lt;150 ms — routes to Nemotron-3 Nano (reasoning),
Granite 4.1 8B (code), or Qwen2.5-VL-7B (vision defect localization)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5980175" y="3236976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25C68"/>
                </a:solidFill>
                <a:latin typeface="Calibri"/>
              </a:rPr>
              <a:t>↓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3044952" y="3346704"/>
            <a:ext cx="6144768" cy="896112"/>
          </a:xfrm>
          <a:prstGeom prst="rect">
            <a:avLst/>
          </a:prstGeom>
          <a:solidFill>
            <a:srgbClr val="E5F5F6"/>
          </a:solidFill>
          <a:ln w="1524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3044952" y="3346704"/>
            <a:ext cx="64008" cy="896112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3172968" y="3401568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878F"/>
                </a:solidFill>
                <a:latin typeface="Calibri"/>
              </a:rPr>
              <a:t>3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3502152" y="3401568"/>
            <a:ext cx="5596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8F"/>
                </a:solidFill>
                <a:latin typeface="Calibri"/>
              </a:rPr>
              <a:t>AGENTIC ORCHESTRATION ENGINE  (LangGraph)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3502152" y="3657600"/>
            <a:ext cx="5596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PLAN → ACT → OBSERVE → CRITIQUE
Self-correction triggered if output lacks grounded telemetry evidence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5980175" y="4187952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25C68"/>
                </a:solidFill>
                <a:latin typeface="Calibri"/>
              </a:rPr>
              <a:t>↓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3044952" y="4297680"/>
            <a:ext cx="6144768" cy="896112"/>
          </a:xfrm>
          <a:prstGeom prst="rect">
            <a:avLst/>
          </a:prstGeom>
          <a:solidFill>
            <a:srgbClr val="FBECEB"/>
          </a:solidFill>
          <a:ln w="15240">
            <a:solidFill>
              <a:srgbClr val="8B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Rectangle 17454"/>
          <p:cNvSpPr/>
          <p:nvPr/>
        </p:nvSpPr>
        <p:spPr>
          <a:xfrm>
            <a:off x="3044952" y="4297680"/>
            <a:ext cx="64008" cy="896112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3172968" y="4352544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B4500"/>
                </a:solidFill>
                <a:latin typeface="Calibri"/>
              </a:rPr>
              <a:t>4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3502152" y="4352544"/>
            <a:ext cx="5596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4500"/>
                </a:solidFill>
                <a:latin typeface="Calibri"/>
              </a:rPr>
              <a:t>DATA-LAYER SECURITY &amp; ISOLATED EXECUTION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3502152" y="4608576"/>
            <a:ext cx="5596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Lateral RBAC gate · Chroma metadata filter · 1 GB subprocess sandbox
--network none · Blocks unauthorized context exposure at retrieval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5980175" y="5138928"/>
            <a:ext cx="27432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525C68"/>
                </a:solidFill>
                <a:latin typeface="Calibri"/>
              </a:rPr>
              <a:t>↓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3044952" y="5248656"/>
            <a:ext cx="6144768" cy="896112"/>
          </a:xfrm>
          <a:prstGeom prst="rect">
            <a:avLst/>
          </a:prstGeom>
          <a:solidFill>
            <a:srgbClr val="E8F5F0"/>
          </a:solidFill>
          <a:ln w="1524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Rectangle 17460"/>
          <p:cNvSpPr/>
          <p:nvPr/>
        </p:nvSpPr>
        <p:spPr>
          <a:xfrm>
            <a:off x="3044952" y="5248656"/>
            <a:ext cx="64008" cy="896112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3172968" y="5303520"/>
            <a:ext cx="27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7A60"/>
                </a:solidFill>
                <a:latin typeface="Calibri"/>
              </a:rPr>
              <a:t>5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3502152" y="5303520"/>
            <a:ext cx="55961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60"/>
                </a:solidFill>
                <a:latin typeface="Calibri"/>
              </a:rPr>
              <a:t>CRYPTOGRAPHIC LEDGER &amp; DELIVERABLES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3502152" y="5559552"/>
            <a:ext cx="55961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SHA-256 Merkle chain (audit_log.jsonl) · 0 bytes external egress
Formatted .docx / .pptx / .xlsx output artifacts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9253728" y="1170432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5E"/>
                </a:solidFill>
                <a:latin typeface="Calibri"/>
              </a:rPr>
              <a:t>Performance Metrics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9253728" y="1408176"/>
            <a:ext cx="793699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Rectangle 17466"/>
          <p:cNvSpPr/>
          <p:nvPr/>
        </p:nvSpPr>
        <p:spPr>
          <a:xfrm>
            <a:off x="9253728" y="1444752"/>
            <a:ext cx="2834640" cy="749808"/>
          </a:xfrm>
          <a:prstGeom prst="rect">
            <a:avLst/>
          </a:prstGeom>
          <a:solidFill>
            <a:srgbClr val="E8EFF8"/>
          </a:solidFill>
          <a:ln w="1016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9363455" y="1499616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E"/>
                </a:solidFill>
                <a:latin typeface="Calibri"/>
              </a:rPr>
              <a:t>65 tok/s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9363455" y="186537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25C68"/>
                </a:solidFill>
                <a:latin typeface="Calibri"/>
              </a:rPr>
              <a:t>Inference
RTX 4050 CUDA 12</a:t>
            </a:r>
          </a:p>
        </p:txBody>
      </p:sp>
      <p:sp>
        <p:nvSpPr>
          <p:cNvPr id="17470" name="Rectangle 17469"/>
          <p:cNvSpPr/>
          <p:nvPr/>
        </p:nvSpPr>
        <p:spPr>
          <a:xfrm>
            <a:off x="9253728" y="2240280"/>
            <a:ext cx="2834640" cy="749808"/>
          </a:xfrm>
          <a:prstGeom prst="rect">
            <a:avLst/>
          </a:prstGeom>
          <a:solidFill>
            <a:srgbClr val="E5F5F6"/>
          </a:solidFill>
          <a:ln w="1016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1" name="TextBox 17470"/>
          <p:cNvSpPr txBox="1"/>
          <p:nvPr/>
        </p:nvSpPr>
        <p:spPr>
          <a:xfrm>
            <a:off x="9363455" y="2295144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78F"/>
                </a:solidFill>
                <a:latin typeface="Calibri"/>
              </a:rPr>
              <a:t>&lt;100 ms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9363455" y="26609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25C68"/>
                </a:solidFill>
                <a:latin typeface="Calibri"/>
              </a:rPr>
              <a:t>OCR extraction
On-device</a:t>
            </a:r>
          </a:p>
        </p:txBody>
      </p:sp>
      <p:sp>
        <p:nvSpPr>
          <p:cNvPr id="17473" name="Rectangle 17472"/>
          <p:cNvSpPr/>
          <p:nvPr/>
        </p:nvSpPr>
        <p:spPr>
          <a:xfrm>
            <a:off x="9253728" y="3035808"/>
            <a:ext cx="2834640" cy="749808"/>
          </a:xfrm>
          <a:prstGeom prst="rect">
            <a:avLst/>
          </a:prstGeom>
          <a:solidFill>
            <a:srgbClr val="E8EFF8"/>
          </a:solidFill>
          <a:ln w="1016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9363455" y="3090672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E"/>
                </a:solidFill>
                <a:latin typeface="Calibri"/>
              </a:rPr>
              <a:t>6–8 GB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9363455" y="345643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25C68"/>
                </a:solidFill>
                <a:latin typeface="Calibri"/>
              </a:rPr>
              <a:t>VRAM required
Consumer GPU</a:t>
            </a:r>
          </a:p>
        </p:txBody>
      </p:sp>
      <p:sp>
        <p:nvSpPr>
          <p:cNvPr id="17476" name="Rectangle 17475"/>
          <p:cNvSpPr/>
          <p:nvPr/>
        </p:nvSpPr>
        <p:spPr>
          <a:xfrm>
            <a:off x="9253728" y="3831335"/>
            <a:ext cx="2834640" cy="749808"/>
          </a:xfrm>
          <a:prstGeom prst="rect">
            <a:avLst/>
          </a:prstGeom>
          <a:solidFill>
            <a:srgbClr val="E5F5F6"/>
          </a:solidFill>
          <a:ln w="1016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9363455" y="3886199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78F"/>
                </a:solidFill>
                <a:latin typeface="Calibri"/>
              </a:rPr>
              <a:t>Rs. 0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9363455" y="4251959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25C68"/>
                </a:solidFill>
                <a:latin typeface="Calibri"/>
              </a:rPr>
              <a:t>API cost/month
Zero external calls</a:t>
            </a:r>
          </a:p>
        </p:txBody>
      </p:sp>
      <p:sp>
        <p:nvSpPr>
          <p:cNvPr id="17479" name="Rectangle 17478"/>
          <p:cNvSpPr/>
          <p:nvPr/>
        </p:nvSpPr>
        <p:spPr>
          <a:xfrm>
            <a:off x="9253728" y="4626864"/>
            <a:ext cx="2834640" cy="749808"/>
          </a:xfrm>
          <a:prstGeom prst="rect">
            <a:avLst/>
          </a:prstGeom>
          <a:solidFill>
            <a:srgbClr val="E8EFF8"/>
          </a:solidFill>
          <a:ln w="1016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0" name="TextBox 17479"/>
          <p:cNvSpPr txBox="1"/>
          <p:nvPr/>
        </p:nvSpPr>
        <p:spPr>
          <a:xfrm>
            <a:off x="9363455" y="4681728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55E"/>
                </a:solidFill>
                <a:latin typeface="Calibri"/>
              </a:rPr>
              <a:t>0 Bytes</a:t>
            </a:r>
          </a:p>
        </p:txBody>
      </p:sp>
      <p:sp>
        <p:nvSpPr>
          <p:cNvPr id="17481" name="TextBox 17480"/>
          <p:cNvSpPr txBox="1"/>
          <p:nvPr/>
        </p:nvSpPr>
        <p:spPr>
          <a:xfrm>
            <a:off x="9363455" y="504748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25C68"/>
                </a:solidFill>
                <a:latin typeface="Calibri"/>
              </a:rPr>
              <a:t>External egress
Hardware-verified</a:t>
            </a:r>
          </a:p>
        </p:txBody>
      </p:sp>
      <p:sp>
        <p:nvSpPr>
          <p:cNvPr id="17482" name="Rectangle 17481"/>
          <p:cNvSpPr/>
          <p:nvPr/>
        </p:nvSpPr>
        <p:spPr>
          <a:xfrm>
            <a:off x="9253728" y="5422392"/>
            <a:ext cx="2834640" cy="749808"/>
          </a:xfrm>
          <a:prstGeom prst="rect">
            <a:avLst/>
          </a:prstGeom>
          <a:solidFill>
            <a:srgbClr val="E5F5F6"/>
          </a:solidFill>
          <a:ln w="1016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9363455" y="5477255"/>
            <a:ext cx="2651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878F"/>
                </a:solidFill>
                <a:latin typeface="Calibri"/>
              </a:rPr>
              <a:t>100%</a:t>
            </a:r>
          </a:p>
        </p:txBody>
      </p:sp>
      <p:sp>
        <p:nvSpPr>
          <p:cNvPr id="17484" name="TextBox 17483"/>
          <p:cNvSpPr txBox="1"/>
          <p:nvPr/>
        </p:nvSpPr>
        <p:spPr>
          <a:xfrm>
            <a:off x="9363455" y="58430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25C68"/>
                </a:solidFill>
                <a:latin typeface="Calibri"/>
              </a:rPr>
              <a:t>Offline capable
Air-gapped bunkers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1A355E"/>
                </a:solidFill>
                <a:latin typeface="Calibri"/>
              </a:rPr>
              <a:t>Feasibility and Viability Analysis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 b="1"/>
              <a:t>Team Sovereign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0" y="1170432"/>
            <a:ext cx="3977639" cy="1956816"/>
          </a:xfrm>
          <a:prstGeom prst="rect">
            <a:avLst/>
          </a:prstGeom>
          <a:solidFill>
            <a:srgbClr val="E8EFF8"/>
          </a:solidFill>
          <a:ln w="1270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0" y="1170432"/>
            <a:ext cx="3977639" cy="27432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91440" y="1207008"/>
            <a:ext cx="37947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Technical Feasibility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9728" y="1517904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Runs on consumer hardware — RTX 3060/4050/5050, 16 GB RAM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09728" y="1901952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Open-source stack: FastAPI · LangGraph · ChromaDB · llama.cpp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09728" y="2286000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GPU → CPU/Vulkan auto-fallback for graceful degradation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09728" y="2670048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5 automated test suites validated on working prototype</a:t>
            </a:r>
          </a:p>
        </p:txBody>
      </p:sp>
      <p:sp>
        <p:nvSpPr>
          <p:cNvPr id="17418" name="Rectangle 17417"/>
          <p:cNvSpPr/>
          <p:nvPr/>
        </p:nvSpPr>
        <p:spPr>
          <a:xfrm>
            <a:off x="4059935" y="1170432"/>
            <a:ext cx="3977639" cy="1956816"/>
          </a:xfrm>
          <a:prstGeom prst="rect">
            <a:avLst/>
          </a:prstGeom>
          <a:solidFill>
            <a:srgbClr val="FDF3E0"/>
          </a:solidFill>
          <a:ln w="12700">
            <a:solidFill>
              <a:srgbClr val="B86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ectangle 17418"/>
          <p:cNvSpPr/>
          <p:nvPr/>
        </p:nvSpPr>
        <p:spPr>
          <a:xfrm>
            <a:off x="4059935" y="1170432"/>
            <a:ext cx="3977639" cy="274320"/>
          </a:xfrm>
          <a:prstGeom prst="rect">
            <a:avLst/>
          </a:prstGeom>
          <a:solidFill>
            <a:srgbClr val="B8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151375" y="1207008"/>
            <a:ext cx="37947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National &amp; Strategic Alignment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169663" y="1517904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Atmanirbhar Bharat — 100% Made-in-India AI stack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169663" y="1901952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India NDGF compliant — full on-soil data sovereignty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169663" y="2286000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Defense air-gap directives satisfied — 0 bytes egress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169663" y="2670048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ISO/IEC 27001 A.13.1 Network Controls satisfied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8119871" y="1170432"/>
            <a:ext cx="3977639" cy="1956816"/>
          </a:xfrm>
          <a:prstGeom prst="rect">
            <a:avLst/>
          </a:prstGeom>
          <a:solidFill>
            <a:srgbClr val="E8F5F0"/>
          </a:solidFill>
          <a:ln w="1270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8119871" y="1170432"/>
            <a:ext cx="3977639" cy="274320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8211311" y="1207008"/>
            <a:ext cx="379475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Maintenance &amp; Deployment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8229599" y="1517904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Air-gapped .gguf weight drop — no internet needed in production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229599" y="1901952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Docker Compose single-command deployment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229599" y="2286000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Offline security patches via signed package bundles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229599" y="2670048"/>
            <a:ext cx="37581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  Add new models via YAML config only — no re-architecture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0" y="3227832"/>
            <a:ext cx="121889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55E"/>
                </a:solidFill>
                <a:latin typeface="Calibri"/>
              </a:rPr>
              <a:t>Economic Feasibility — Commercial Cloud AI vs. SOVEREIGN On-Device Workbench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0" y="3447288"/>
            <a:ext cx="12188952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ectangle 17433"/>
          <p:cNvSpPr/>
          <p:nvPr/>
        </p:nvSpPr>
        <p:spPr>
          <a:xfrm>
            <a:off x="0" y="3483864"/>
            <a:ext cx="3657600" cy="283464"/>
          </a:xfrm>
          <a:prstGeom prst="rect">
            <a:avLst/>
          </a:prstGeom>
          <a:solidFill>
            <a:srgbClr val="1A355E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82296" y="3529584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Evaluation Parameter</a:t>
            </a:r>
          </a:p>
        </p:txBody>
      </p:sp>
      <p:sp>
        <p:nvSpPr>
          <p:cNvPr id="17436" name="Rectangle 17435"/>
          <p:cNvSpPr/>
          <p:nvPr/>
        </p:nvSpPr>
        <p:spPr>
          <a:xfrm>
            <a:off x="3657600" y="3483864"/>
            <a:ext cx="4270248" cy="283464"/>
          </a:xfrm>
          <a:prstGeom prst="rect">
            <a:avLst/>
          </a:prstGeom>
          <a:solidFill>
            <a:srgbClr val="1A355E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3739896" y="3529584"/>
            <a:ext cx="4105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Commercial Cloud AI  (OpenAI / AWS Bedrock)</a:t>
            </a:r>
          </a:p>
        </p:txBody>
      </p:sp>
      <p:sp>
        <p:nvSpPr>
          <p:cNvPr id="17438" name="Rectangle 17437"/>
          <p:cNvSpPr/>
          <p:nvPr/>
        </p:nvSpPr>
        <p:spPr>
          <a:xfrm>
            <a:off x="7927848" y="3483864"/>
            <a:ext cx="4261104" cy="283464"/>
          </a:xfrm>
          <a:prstGeom prst="rect">
            <a:avLst/>
          </a:prstGeom>
          <a:solidFill>
            <a:srgbClr val="1A355E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8010144" y="3529584"/>
            <a:ext cx="4096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SOVEREIGN On-Device Workbench</a:t>
            </a:r>
          </a:p>
        </p:txBody>
      </p:sp>
      <p:sp>
        <p:nvSpPr>
          <p:cNvPr id="17440" name="Rectangle 17439"/>
          <p:cNvSpPr/>
          <p:nvPr/>
        </p:nvSpPr>
        <p:spPr>
          <a:xfrm>
            <a:off x="0" y="3790188"/>
            <a:ext cx="3657600" cy="283464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82296" y="3835908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API Cost per Million Tokens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3657600" y="3790188"/>
            <a:ext cx="4270248" cy="283464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3739896" y="3835908"/>
            <a:ext cx="4105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$5.00 – $15.00 (continuous recurring OpEx)</a:t>
            </a:r>
          </a:p>
        </p:txBody>
      </p:sp>
      <p:sp>
        <p:nvSpPr>
          <p:cNvPr id="17444" name="Rectangle 17443"/>
          <p:cNvSpPr/>
          <p:nvPr/>
        </p:nvSpPr>
        <p:spPr>
          <a:xfrm>
            <a:off x="7927848" y="3790188"/>
            <a:ext cx="4261104" cy="283464"/>
          </a:xfrm>
          <a:prstGeom prst="rect">
            <a:avLst/>
          </a:prstGeom>
          <a:solidFill>
            <a:srgbClr val="E8F5F0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8010144" y="3835908"/>
            <a:ext cx="4096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Rs. 0.00 — Zero recurring API fees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0" y="4096512"/>
            <a:ext cx="3657600" cy="283464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82296" y="4142232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Dedicated Air-Gap Cloud Setup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3657600" y="4096512"/>
            <a:ext cx="4270248" cy="283464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3739896" y="4142232"/>
            <a:ext cx="4105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Rs. 15,00,000 – Rs. 50,00,000+ per year</a:t>
            </a:r>
          </a:p>
        </p:txBody>
      </p:sp>
      <p:sp>
        <p:nvSpPr>
          <p:cNvPr id="17450" name="Rectangle 17449"/>
          <p:cNvSpPr/>
          <p:nvPr/>
        </p:nvSpPr>
        <p:spPr>
          <a:xfrm>
            <a:off x="7927848" y="4096512"/>
            <a:ext cx="4261104" cy="283464"/>
          </a:xfrm>
          <a:prstGeom prst="rect">
            <a:avLst/>
          </a:prstGeom>
          <a:solidFill>
            <a:srgbClr val="E8F5F0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010144" y="4142232"/>
            <a:ext cx="4096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Rs. 0 — Runs on existing field laptops</a:t>
            </a:r>
          </a:p>
        </p:txBody>
      </p:sp>
      <p:sp>
        <p:nvSpPr>
          <p:cNvPr id="17452" name="Rectangle 17451"/>
          <p:cNvSpPr/>
          <p:nvPr/>
        </p:nvSpPr>
        <p:spPr>
          <a:xfrm>
            <a:off x="0" y="4402836"/>
            <a:ext cx="3657600" cy="283464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82296" y="4448556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Data Breach / Espionage Liability</a:t>
            </a:r>
          </a:p>
        </p:txBody>
      </p:sp>
      <p:sp>
        <p:nvSpPr>
          <p:cNvPr id="17454" name="Rectangle 17453"/>
          <p:cNvSpPr/>
          <p:nvPr/>
        </p:nvSpPr>
        <p:spPr>
          <a:xfrm>
            <a:off x="3657600" y="4402836"/>
            <a:ext cx="4270248" cy="283464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3739896" y="4448556"/>
            <a:ext cx="4105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Extreme — third-party server exposure</a:t>
            </a:r>
          </a:p>
        </p:txBody>
      </p:sp>
      <p:sp>
        <p:nvSpPr>
          <p:cNvPr id="17456" name="Rectangle 17455"/>
          <p:cNvSpPr/>
          <p:nvPr/>
        </p:nvSpPr>
        <p:spPr>
          <a:xfrm>
            <a:off x="7927848" y="4402836"/>
            <a:ext cx="4261104" cy="283464"/>
          </a:xfrm>
          <a:prstGeom prst="rect">
            <a:avLst/>
          </a:prstGeom>
          <a:solidFill>
            <a:srgbClr val="E8F5F0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8010144" y="4448556"/>
            <a:ext cx="4096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Zero — 0 bytes ever leave the device</a:t>
            </a:r>
          </a:p>
        </p:txBody>
      </p:sp>
      <p:sp>
        <p:nvSpPr>
          <p:cNvPr id="17458" name="Rectangle 17457"/>
          <p:cNvSpPr/>
          <p:nvPr/>
        </p:nvSpPr>
        <p:spPr>
          <a:xfrm>
            <a:off x="0" y="4709160"/>
            <a:ext cx="3657600" cy="283464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82296" y="4754880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Internet Bandwidth Required</a:t>
            </a:r>
          </a:p>
        </p:txBody>
      </p:sp>
      <p:sp>
        <p:nvSpPr>
          <p:cNvPr id="17460" name="Rectangle 17459"/>
          <p:cNvSpPr/>
          <p:nvPr/>
        </p:nvSpPr>
        <p:spPr>
          <a:xfrm>
            <a:off x="3657600" y="4709160"/>
            <a:ext cx="4270248" cy="283464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3739896" y="4754880"/>
            <a:ext cx="4105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High-speed dedicated fiber mandatory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7927848" y="4709160"/>
            <a:ext cx="4261104" cy="283464"/>
          </a:xfrm>
          <a:prstGeom prst="rect">
            <a:avLst/>
          </a:prstGeom>
          <a:solidFill>
            <a:srgbClr val="E8F5F0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8010144" y="4754880"/>
            <a:ext cx="4096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0 kbps — 100% functional offline</a:t>
            </a:r>
          </a:p>
        </p:txBody>
      </p:sp>
      <p:sp>
        <p:nvSpPr>
          <p:cNvPr id="17464" name="Rectangle 17463"/>
          <p:cNvSpPr/>
          <p:nvPr/>
        </p:nvSpPr>
        <p:spPr>
          <a:xfrm>
            <a:off x="0" y="5015484"/>
            <a:ext cx="3657600" cy="283464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82296" y="5061204"/>
            <a:ext cx="34930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Cost per Generated Deliverable</a:t>
            </a:r>
          </a:p>
        </p:txBody>
      </p:sp>
      <p:sp>
        <p:nvSpPr>
          <p:cNvPr id="17466" name="Rectangle 17465"/>
          <p:cNvSpPr/>
          <p:nvPr/>
        </p:nvSpPr>
        <p:spPr>
          <a:xfrm>
            <a:off x="3657600" y="5015484"/>
            <a:ext cx="4270248" cy="283464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3739896" y="5061204"/>
            <a:ext cx="4105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Rs. 15 – Rs. 45 per document</a:t>
            </a:r>
          </a:p>
        </p:txBody>
      </p:sp>
      <p:sp>
        <p:nvSpPr>
          <p:cNvPr id="17468" name="Rectangle 17467"/>
          <p:cNvSpPr/>
          <p:nvPr/>
        </p:nvSpPr>
        <p:spPr>
          <a:xfrm>
            <a:off x="7927848" y="5015484"/>
            <a:ext cx="4261104" cy="283464"/>
          </a:xfrm>
          <a:prstGeom prst="rect">
            <a:avLst/>
          </a:prstGeom>
          <a:solidFill>
            <a:srgbClr val="E8F5F0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8010144" y="5061204"/>
            <a:ext cx="40965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A7A60"/>
                </a:solidFill>
                <a:latin typeface="Calibri"/>
              </a:rPr>
              <a:t>Rs. 0.00 — Unlimited generation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0" y="5413248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355E"/>
                </a:solidFill>
                <a:latin typeface="Calibri"/>
              </a:rPr>
              <a:t>Implementation Scalability</a:t>
            </a:r>
          </a:p>
        </p:txBody>
      </p:sp>
      <p:sp>
        <p:nvSpPr>
          <p:cNvPr id="17471" name="Rectangle 17470"/>
          <p:cNvSpPr/>
          <p:nvPr/>
        </p:nvSpPr>
        <p:spPr>
          <a:xfrm>
            <a:off x="0" y="5614416"/>
            <a:ext cx="8229600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Rectangle 17471"/>
          <p:cNvSpPr/>
          <p:nvPr/>
        </p:nvSpPr>
        <p:spPr>
          <a:xfrm>
            <a:off x="0" y="5650992"/>
            <a:ext cx="2743200" cy="265176"/>
          </a:xfrm>
          <a:prstGeom prst="rect">
            <a:avLst/>
          </a:prstGeom>
          <a:solidFill>
            <a:srgbClr val="1A355E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3" name="TextBox 17472"/>
          <p:cNvSpPr txBox="1"/>
          <p:nvPr/>
        </p:nvSpPr>
        <p:spPr>
          <a:xfrm>
            <a:off x="82296" y="5687568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Factor</a:t>
            </a:r>
          </a:p>
        </p:txBody>
      </p:sp>
      <p:sp>
        <p:nvSpPr>
          <p:cNvPr id="17474" name="Rectangle 17473"/>
          <p:cNvSpPr/>
          <p:nvPr/>
        </p:nvSpPr>
        <p:spPr>
          <a:xfrm>
            <a:off x="2743200" y="5650992"/>
            <a:ext cx="9372600" cy="265176"/>
          </a:xfrm>
          <a:prstGeom prst="rect">
            <a:avLst/>
          </a:prstGeom>
          <a:solidFill>
            <a:srgbClr val="1A355E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5" name="TextBox 17474"/>
          <p:cNvSpPr txBox="1"/>
          <p:nvPr/>
        </p:nvSpPr>
        <p:spPr>
          <a:xfrm>
            <a:off x="2825496" y="5687568"/>
            <a:ext cx="9208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Support &amp; Strategic Capability</a:t>
            </a:r>
          </a:p>
        </p:txBody>
      </p:sp>
      <p:sp>
        <p:nvSpPr>
          <p:cNvPr id="17476" name="Rectangle 17475"/>
          <p:cNvSpPr/>
          <p:nvPr/>
        </p:nvSpPr>
        <p:spPr>
          <a:xfrm>
            <a:off x="0" y="5934455"/>
            <a:ext cx="2743200" cy="265176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82296" y="5971031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Hardware Accessibility</a:t>
            </a:r>
          </a:p>
        </p:txBody>
      </p:sp>
      <p:sp>
        <p:nvSpPr>
          <p:cNvPr id="17478" name="Rectangle 17477"/>
          <p:cNvSpPr/>
          <p:nvPr/>
        </p:nvSpPr>
        <p:spPr>
          <a:xfrm>
            <a:off x="2743200" y="5934455"/>
            <a:ext cx="9372600" cy="265176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2825496" y="5971031"/>
            <a:ext cx="9208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100% compatible with existing PSU/defense laptops — zero new procurement</a:t>
            </a:r>
          </a:p>
        </p:txBody>
      </p:sp>
      <p:sp>
        <p:nvSpPr>
          <p:cNvPr id="17480" name="Rectangle 17479"/>
          <p:cNvSpPr/>
          <p:nvPr/>
        </p:nvSpPr>
        <p:spPr>
          <a:xfrm>
            <a:off x="0" y="6217920"/>
            <a:ext cx="2743200" cy="265176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82296" y="6254496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Extensibility</a:t>
            </a:r>
          </a:p>
        </p:txBody>
      </p:sp>
      <p:sp>
        <p:nvSpPr>
          <p:cNvPr id="17482" name="Rectangle 17481"/>
          <p:cNvSpPr/>
          <p:nvPr/>
        </p:nvSpPr>
        <p:spPr>
          <a:xfrm>
            <a:off x="2743200" y="6217920"/>
            <a:ext cx="9372600" cy="265176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2825496" y="6254496"/>
            <a:ext cx="9208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Drop-in YAML model manifest — add open-weight models without re-architecting</a:t>
            </a:r>
          </a:p>
        </p:txBody>
      </p:sp>
      <p:sp>
        <p:nvSpPr>
          <p:cNvPr id="17484" name="Rectangle 17483"/>
          <p:cNvSpPr/>
          <p:nvPr/>
        </p:nvSpPr>
        <p:spPr>
          <a:xfrm>
            <a:off x="0" y="6501383"/>
            <a:ext cx="2743200" cy="265176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82296" y="6537959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Maintenance</a:t>
            </a:r>
          </a:p>
        </p:txBody>
      </p:sp>
      <p:sp>
        <p:nvSpPr>
          <p:cNvPr id="17486" name="Rectangle 17485"/>
          <p:cNvSpPr/>
          <p:nvPr/>
        </p:nvSpPr>
        <p:spPr>
          <a:xfrm>
            <a:off x="2743200" y="6501383"/>
            <a:ext cx="9372600" cy="265176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7" name="TextBox 17486"/>
          <p:cNvSpPr txBox="1"/>
          <p:nvPr/>
        </p:nvSpPr>
        <p:spPr>
          <a:xfrm>
            <a:off x="2825496" y="6537959"/>
            <a:ext cx="9208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Air-gapped .gguf weight drop; zero external package pulls in production</a:t>
            </a:r>
          </a:p>
        </p:txBody>
      </p:sp>
      <p:sp>
        <p:nvSpPr>
          <p:cNvPr id="17488" name="Rectangle 17487"/>
          <p:cNvSpPr/>
          <p:nvPr/>
        </p:nvSpPr>
        <p:spPr>
          <a:xfrm>
            <a:off x="0" y="6784848"/>
            <a:ext cx="2743200" cy="265176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9" name="TextBox 17488"/>
          <p:cNvSpPr txBox="1"/>
          <p:nvPr/>
        </p:nvSpPr>
        <p:spPr>
          <a:xfrm>
            <a:off x="82296" y="6821424"/>
            <a:ext cx="2578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Deployment Readiness</a:t>
            </a:r>
          </a:p>
        </p:txBody>
      </p:sp>
      <p:sp>
        <p:nvSpPr>
          <p:cNvPr id="17490" name="Rectangle 17489"/>
          <p:cNvSpPr/>
          <p:nvPr/>
        </p:nvSpPr>
        <p:spPr>
          <a:xfrm>
            <a:off x="2743200" y="6784848"/>
            <a:ext cx="9372600" cy="265176"/>
          </a:xfrm>
          <a:prstGeom prst="rect">
            <a:avLst/>
          </a:prstGeom>
          <a:solidFill>
            <a:srgbClr val="E8EFF8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1" name="TextBox 17490"/>
          <p:cNvSpPr txBox="1"/>
          <p:nvPr/>
        </p:nvSpPr>
        <p:spPr>
          <a:xfrm>
            <a:off x="2825496" y="6821424"/>
            <a:ext cx="92080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Working prototype validated across 5 automated diagnostic test suites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1A355E"/>
                </a:solidFill>
                <a:latin typeface="Calibri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 b="1"/>
              <a:t>Team Sovereign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ectangle 17410"/>
          <p:cNvSpPr/>
          <p:nvPr/>
        </p:nvSpPr>
        <p:spPr>
          <a:xfrm>
            <a:off x="0" y="1170432"/>
            <a:ext cx="2999232" cy="914400"/>
          </a:xfrm>
          <a:prstGeom prst="rect">
            <a:avLst/>
          </a:prstGeom>
          <a:noFill/>
          <a:ln w="1524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ectangle 17411"/>
          <p:cNvSpPr/>
          <p:nvPr/>
        </p:nvSpPr>
        <p:spPr>
          <a:xfrm>
            <a:off x="0" y="1170432"/>
            <a:ext cx="2999232" cy="6400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109728" y="1280160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355E"/>
                </a:solidFill>
                <a:latin typeface="Calibri"/>
              </a:rPr>
              <a:t>Rs. 0 / Month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09728" y="175564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C68"/>
                </a:solidFill>
                <a:latin typeface="Calibri"/>
              </a:rPr>
              <a:t>Zero Cloud OpEx</a:t>
            </a:r>
          </a:p>
        </p:txBody>
      </p:sp>
      <p:sp>
        <p:nvSpPr>
          <p:cNvPr id="17415" name="Rectangle 17414"/>
          <p:cNvSpPr/>
          <p:nvPr/>
        </p:nvSpPr>
        <p:spPr>
          <a:xfrm>
            <a:off x="3044952" y="1170432"/>
            <a:ext cx="2999232" cy="914400"/>
          </a:xfrm>
          <a:prstGeom prst="rect">
            <a:avLst/>
          </a:prstGeom>
          <a:noFill/>
          <a:ln w="1524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6" name="Rectangle 17415"/>
          <p:cNvSpPr/>
          <p:nvPr/>
        </p:nvSpPr>
        <p:spPr>
          <a:xfrm>
            <a:off x="3044952" y="1170432"/>
            <a:ext cx="2999232" cy="64008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3154680" y="1280160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00878F"/>
                </a:solidFill>
                <a:latin typeface="Calibri"/>
              </a:rPr>
              <a:t>100%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3154680" y="175564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C68"/>
                </a:solidFill>
                <a:latin typeface="Calibri"/>
              </a:rPr>
              <a:t>Air-Gapped &amp; Offline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6089904" y="1170432"/>
            <a:ext cx="2999232" cy="914400"/>
          </a:xfrm>
          <a:prstGeom prst="rect">
            <a:avLst/>
          </a:prstGeom>
          <a:noFill/>
          <a:ln w="1524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Rectangle 17419"/>
          <p:cNvSpPr/>
          <p:nvPr/>
        </p:nvSpPr>
        <p:spPr>
          <a:xfrm>
            <a:off x="6089904" y="1170432"/>
            <a:ext cx="2999232" cy="64008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199632" y="1280160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7A60"/>
                </a:solidFill>
                <a:latin typeface="Calibri"/>
              </a:rPr>
              <a:t>10x Faster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199632" y="175564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C68"/>
                </a:solidFill>
                <a:latin typeface="Calibri"/>
              </a:rPr>
              <a:t>Inspection Report Turnaround</a:t>
            </a:r>
          </a:p>
        </p:txBody>
      </p:sp>
      <p:sp>
        <p:nvSpPr>
          <p:cNvPr id="17423" name="Rectangle 17422"/>
          <p:cNvSpPr/>
          <p:nvPr/>
        </p:nvSpPr>
        <p:spPr>
          <a:xfrm>
            <a:off x="9134856" y="1170432"/>
            <a:ext cx="2999232" cy="914400"/>
          </a:xfrm>
          <a:prstGeom prst="rect">
            <a:avLst/>
          </a:prstGeom>
          <a:noFill/>
          <a:ln w="15240">
            <a:solidFill>
              <a:srgbClr val="B53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9134856" y="1170432"/>
            <a:ext cx="2999232" cy="64008"/>
          </a:xfrm>
          <a:prstGeom prst="rect">
            <a:avLst/>
          </a:prstGeom>
          <a:solidFill>
            <a:srgbClr val="B5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9244584" y="1280160"/>
            <a:ext cx="277977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B53A30"/>
                </a:solidFill>
                <a:latin typeface="Calibri"/>
              </a:rPr>
              <a:t>0%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9244584" y="1755648"/>
            <a:ext cx="277977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25C68"/>
                </a:solidFill>
                <a:latin typeface="Calibri"/>
              </a:rPr>
              <a:t>Hallucination Rate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3152" y="2176272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5E"/>
                </a:solidFill>
                <a:latin typeface="Calibri"/>
              </a:rPr>
              <a:t>Operational Benefits Across Verticals</a:t>
            </a:r>
          </a:p>
        </p:txBody>
      </p:sp>
      <p:sp>
        <p:nvSpPr>
          <p:cNvPr id="17428" name="Rectangle 17427"/>
          <p:cNvSpPr/>
          <p:nvPr/>
        </p:nvSpPr>
        <p:spPr>
          <a:xfrm>
            <a:off x="73152" y="2414015"/>
            <a:ext cx="1677009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ectangle 17428"/>
          <p:cNvSpPr/>
          <p:nvPr/>
        </p:nvSpPr>
        <p:spPr>
          <a:xfrm>
            <a:off x="73152" y="2450591"/>
            <a:ext cx="5989320" cy="859536"/>
          </a:xfrm>
          <a:prstGeom prst="rect">
            <a:avLst/>
          </a:prstGeom>
          <a:solidFill>
            <a:srgbClr val="E8EFF8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Rectangle 17429"/>
          <p:cNvSpPr/>
          <p:nvPr/>
        </p:nvSpPr>
        <p:spPr>
          <a:xfrm>
            <a:off x="73152" y="2450591"/>
            <a:ext cx="50292" cy="85953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182880" y="2532887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55E"/>
                </a:solidFill>
                <a:latin typeface="Calibri"/>
              </a:rPr>
              <a:t>Defense &amp; Ordnance Factories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182880" y="2770632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Processes classified schematics &amp; maintenance logs without cloud adapters or external network.</a:t>
            </a:r>
          </a:p>
        </p:txBody>
      </p:sp>
      <p:sp>
        <p:nvSpPr>
          <p:cNvPr id="17433" name="Rectangle 17432"/>
          <p:cNvSpPr/>
          <p:nvPr/>
        </p:nvSpPr>
        <p:spPr>
          <a:xfrm>
            <a:off x="73152" y="3364991"/>
            <a:ext cx="5989320" cy="859536"/>
          </a:xfrm>
          <a:prstGeom prst="rect">
            <a:avLst/>
          </a:prstGeom>
          <a:solidFill>
            <a:srgbClr val="E5F5F6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Rectangle 17433"/>
          <p:cNvSpPr/>
          <p:nvPr/>
        </p:nvSpPr>
        <p:spPr>
          <a:xfrm>
            <a:off x="73152" y="3364991"/>
            <a:ext cx="50292" cy="859536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182880" y="3447287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8F"/>
                </a:solidFill>
                <a:latin typeface="Calibri"/>
              </a:rPr>
              <a:t>Oil, Gas &amp; Petrochemical Refineries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182880" y="3685031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Automates pipeline UT checks, hydrostatic pressure testing, valve failure notes on-site.</a:t>
            </a:r>
          </a:p>
        </p:txBody>
      </p:sp>
      <p:sp>
        <p:nvSpPr>
          <p:cNvPr id="17437" name="Rectangle 17436"/>
          <p:cNvSpPr/>
          <p:nvPr/>
        </p:nvSpPr>
        <p:spPr>
          <a:xfrm>
            <a:off x="73152" y="4279392"/>
            <a:ext cx="5989320" cy="859536"/>
          </a:xfrm>
          <a:prstGeom prst="rect">
            <a:avLst/>
          </a:prstGeom>
          <a:solidFill>
            <a:srgbClr val="E8EFF8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Rectangle 17437"/>
          <p:cNvSpPr/>
          <p:nvPr/>
        </p:nvSpPr>
        <p:spPr>
          <a:xfrm>
            <a:off x="73152" y="4279392"/>
            <a:ext cx="50292" cy="859536"/>
          </a:xfrm>
          <a:prstGeom prst="rect">
            <a:avLst/>
          </a:prstGeom>
          <a:solidFill>
            <a:srgbClr val="B5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182880" y="4361688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53A30"/>
                </a:solidFill>
                <a:latin typeface="Calibri"/>
              </a:rPr>
              <a:t>Nuclear &amp; Thermal Power Plants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82880" y="4599431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Guarantees zero lateral data leakage between staff tiers via automated data-layer RBAC.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73152" y="5193792"/>
            <a:ext cx="5989320" cy="859536"/>
          </a:xfrm>
          <a:prstGeom prst="rect">
            <a:avLst/>
          </a:prstGeom>
          <a:solidFill>
            <a:srgbClr val="E5F5F6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73152" y="5193792"/>
            <a:ext cx="50292" cy="859536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182880" y="5276088"/>
            <a:ext cx="57607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60"/>
                </a:solidFill>
                <a:latin typeface="Calibri"/>
              </a:rPr>
              <a:t>Pharmaceutical &amp; Heavy Manufacturing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182880" y="5513831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Eliminates human error in batch telemetry — cross-references against plant SOPs deterministically.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144768" y="2176272"/>
            <a:ext cx="5971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B53A30"/>
                </a:solidFill>
                <a:latin typeface="Calibri"/>
              </a:rPr>
              <a:t>Live Case Study — Valve BV-999 Inspection</a:t>
            </a:r>
          </a:p>
        </p:txBody>
      </p:sp>
      <p:sp>
        <p:nvSpPr>
          <p:cNvPr id="17446" name="Rectangle 17445"/>
          <p:cNvSpPr/>
          <p:nvPr/>
        </p:nvSpPr>
        <p:spPr>
          <a:xfrm>
            <a:off x="6144768" y="2414015"/>
            <a:ext cx="1671888" cy="13716"/>
          </a:xfrm>
          <a:prstGeom prst="rect">
            <a:avLst/>
          </a:prstGeom>
          <a:solidFill>
            <a:srgbClr val="B5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Rectangle 17446"/>
          <p:cNvSpPr/>
          <p:nvPr/>
        </p:nvSpPr>
        <p:spPr>
          <a:xfrm>
            <a:off x="6144768" y="2450591"/>
            <a:ext cx="5971032" cy="548640"/>
          </a:xfrm>
          <a:prstGeom prst="rect">
            <a:avLst/>
          </a:prstGeom>
          <a:solidFill>
            <a:srgbClr val="E5F5F6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Rectangle 17447"/>
          <p:cNvSpPr/>
          <p:nvPr/>
        </p:nvSpPr>
        <p:spPr>
          <a:xfrm>
            <a:off x="6144768" y="2450591"/>
            <a:ext cx="310896" cy="54864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6163055" y="2560320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6528816" y="2596896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Inspector uploads gauge photo to SOVEREIGN workbench</a:t>
            </a:r>
          </a:p>
        </p:txBody>
      </p:sp>
      <p:sp>
        <p:nvSpPr>
          <p:cNvPr id="17451" name="Rectangle 17450"/>
          <p:cNvSpPr/>
          <p:nvPr/>
        </p:nvSpPr>
        <p:spPr>
          <a:xfrm>
            <a:off x="6144768" y="3044951"/>
            <a:ext cx="5971032" cy="548640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Rectangle 17451"/>
          <p:cNvSpPr/>
          <p:nvPr/>
        </p:nvSpPr>
        <p:spPr>
          <a:xfrm>
            <a:off x="6144768" y="3044951"/>
            <a:ext cx="310896" cy="54864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6163055" y="3154679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6528816" y="3191256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RapidOCR extracts on-device:  68.5 N.m torque  ·  7 drops/min leakage  ·  0.44 mm pitting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6144768" y="3639311"/>
            <a:ext cx="5971032" cy="548640"/>
          </a:xfrm>
          <a:prstGeom prst="rect">
            <a:avLst/>
          </a:prstGeom>
          <a:solidFill>
            <a:srgbClr val="E5F5F6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Rectangle 17455"/>
          <p:cNvSpPr/>
          <p:nvPr/>
        </p:nvSpPr>
        <p:spPr>
          <a:xfrm>
            <a:off x="6144768" y="3639311"/>
            <a:ext cx="310896" cy="54864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6163055" y="3749039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6528816" y="3785615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Agent cross-references against plant SOP-VAL-002 — out-of-tolerance detected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6144768" y="4233672"/>
            <a:ext cx="5971032" cy="548640"/>
          </a:xfrm>
          <a:prstGeom prst="rect">
            <a:avLst/>
          </a:prstGeom>
          <a:noFill/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Rectangle 17459"/>
          <p:cNvSpPr/>
          <p:nvPr/>
        </p:nvSpPr>
        <p:spPr>
          <a:xfrm>
            <a:off x="6144768" y="4233672"/>
            <a:ext cx="310896" cy="54864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6163055" y="4343400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6528816" y="4379976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262A"/>
                </a:solidFill>
                <a:latin typeface="Calibri"/>
              </a:rPr>
              <a:t>LangGraph outputs formatted .docx:  DISPOSITION — Quarantine Asset Immediately</a:t>
            </a:r>
          </a:p>
        </p:txBody>
      </p:sp>
      <p:sp>
        <p:nvSpPr>
          <p:cNvPr id="17463" name="Rectangle 17462"/>
          <p:cNvSpPr/>
          <p:nvPr/>
        </p:nvSpPr>
        <p:spPr>
          <a:xfrm>
            <a:off x="6144768" y="4828031"/>
            <a:ext cx="5971032" cy="548640"/>
          </a:xfrm>
          <a:prstGeom prst="rect">
            <a:avLst/>
          </a:prstGeom>
          <a:solidFill>
            <a:srgbClr val="E5F5F6"/>
          </a:solidFill>
          <a:ln w="635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Rectangle 17463"/>
          <p:cNvSpPr/>
          <p:nvPr/>
        </p:nvSpPr>
        <p:spPr>
          <a:xfrm>
            <a:off x="6144768" y="4828031"/>
            <a:ext cx="310896" cy="54864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6163055" y="4937759"/>
            <a:ext cx="274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6528816" y="4974336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SHA-256 Merkle entry committed to audit_log.jsonl (tamper-evident)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6144768" y="5477255"/>
            <a:ext cx="5971032" cy="475488"/>
          </a:xfrm>
          <a:prstGeom prst="rect">
            <a:avLst/>
          </a:prstGeom>
          <a:solidFill>
            <a:srgbClr val="E8F5F0"/>
          </a:solidFill>
          <a:ln w="1270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6254496" y="5550407"/>
            <a:ext cx="5760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A60"/>
                </a:solidFill>
                <a:latin typeface="Calibri"/>
              </a:rPr>
              <a:t>Turnaround: 35 seconds  (Manual process: 24–48 hours)   ·   Zero cloud calls   ·   Zero drafting errors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  <a:p>
            <a:r>
              <a:rPr b="1" sz="2000">
                <a:solidFill>
                  <a:srgbClr val="1A355E"/>
                </a:solidFill>
                <a:latin typeface="Calibri"/>
              </a:rPr>
              <a:t>Research, References &amp; Compliance Validation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600" b="1"/>
              <a:t>Team Sovereign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extBox 17410"/>
          <p:cNvSpPr txBox="1"/>
          <p:nvPr/>
        </p:nvSpPr>
        <p:spPr>
          <a:xfrm>
            <a:off x="73152" y="1170432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355E"/>
                </a:solidFill>
                <a:latin typeface="Calibri"/>
              </a:rPr>
              <a:t>Research Foundations</a:t>
            </a:r>
          </a:p>
        </p:txBody>
      </p:sp>
      <p:sp>
        <p:nvSpPr>
          <p:cNvPr id="17412" name="Rectangle 17411"/>
          <p:cNvSpPr/>
          <p:nvPr/>
        </p:nvSpPr>
        <p:spPr>
          <a:xfrm>
            <a:off x="73152" y="1408176"/>
            <a:ext cx="1113739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Rectangle 17412"/>
          <p:cNvSpPr/>
          <p:nvPr/>
        </p:nvSpPr>
        <p:spPr>
          <a:xfrm>
            <a:off x="73152" y="1444752"/>
            <a:ext cx="3977639" cy="1097280"/>
          </a:xfrm>
          <a:prstGeom prst="rect">
            <a:avLst/>
          </a:prstGeom>
          <a:solidFill>
            <a:srgbClr val="E8EFF8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4" name="Rectangle 17413"/>
          <p:cNvSpPr/>
          <p:nvPr/>
        </p:nvSpPr>
        <p:spPr>
          <a:xfrm>
            <a:off x="73152" y="1444752"/>
            <a:ext cx="50292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182880" y="1517904"/>
            <a:ext cx="3767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[1]  Mamba — Linear-Time Sequence Modeling (Gu et al., NeurIPS 2023)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82880" y="1773936"/>
            <a:ext cx="37673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Validates Nemotron-3 Nano for linear memory scaling on 8 GB VRAM; no quadratic attention cost.</a:t>
            </a:r>
          </a:p>
        </p:txBody>
      </p:sp>
      <p:sp>
        <p:nvSpPr>
          <p:cNvPr id="17417" name="Rectangle 17416"/>
          <p:cNvSpPr/>
          <p:nvPr/>
        </p:nvSpPr>
        <p:spPr>
          <a:xfrm>
            <a:off x="73152" y="2596896"/>
            <a:ext cx="3977639" cy="1097280"/>
          </a:xfrm>
          <a:prstGeom prst="rect">
            <a:avLst/>
          </a:prstGeom>
          <a:noFill/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73152" y="2596896"/>
            <a:ext cx="50292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182880" y="2670048"/>
            <a:ext cx="3767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[2]  C-Pack — Universal Text Embeddings (Xiao et al., 2023)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182880" y="2926079"/>
            <a:ext cx="37673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Validates BGE dense retrieval + Chroma metadata filtering for deterministic RBAC-aware RAG.</a:t>
            </a:r>
          </a:p>
        </p:txBody>
      </p:sp>
      <p:sp>
        <p:nvSpPr>
          <p:cNvPr id="17421" name="Rectangle 17420"/>
          <p:cNvSpPr/>
          <p:nvPr/>
        </p:nvSpPr>
        <p:spPr>
          <a:xfrm>
            <a:off x="73152" y="3749039"/>
            <a:ext cx="3977639" cy="1097280"/>
          </a:xfrm>
          <a:prstGeom prst="rect">
            <a:avLst/>
          </a:prstGeom>
          <a:solidFill>
            <a:srgbClr val="E8EFF8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2" name="Rectangle 17421"/>
          <p:cNvSpPr/>
          <p:nvPr/>
        </p:nvSpPr>
        <p:spPr>
          <a:xfrm>
            <a:off x="73152" y="3749039"/>
            <a:ext cx="50292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182880" y="3822191"/>
            <a:ext cx="3767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[3]  PP-OCRv4 — Compact On-Device OCR (Du et al., Baidu 2023)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82880" y="4078224"/>
            <a:ext cx="37673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Validates RapidOCR for sub-100 ms industrial gauge extraction with zero cloud dependency.</a:t>
            </a:r>
          </a:p>
        </p:txBody>
      </p:sp>
      <p:sp>
        <p:nvSpPr>
          <p:cNvPr id="17425" name="Rectangle 17424"/>
          <p:cNvSpPr/>
          <p:nvPr/>
        </p:nvSpPr>
        <p:spPr>
          <a:xfrm>
            <a:off x="73152" y="4901184"/>
            <a:ext cx="3977639" cy="1097280"/>
          </a:xfrm>
          <a:prstGeom prst="rect">
            <a:avLst/>
          </a:prstGeom>
          <a:noFill/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6" name="Rectangle 17425"/>
          <p:cNvSpPr/>
          <p:nvPr/>
        </p:nvSpPr>
        <p:spPr>
          <a:xfrm>
            <a:off x="73152" y="4901184"/>
            <a:ext cx="50292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182880" y="4974336"/>
            <a:ext cx="3767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alibri"/>
              </a:rPr>
              <a:t>[4]  Self-Refine — Iterative Self-Feedback (Madaan et al., NeurIPS 2023)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82880" y="5230368"/>
            <a:ext cx="37673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Validates LangGraph Plan-Act-Observe-Critique loop to detect and eliminate hallucinated metrics.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4123944" y="1170432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878F"/>
                </a:solidFill>
                <a:latin typeface="Calibri"/>
              </a:rPr>
              <a:t>Standards &amp; Regulatory Compliance</a:t>
            </a:r>
          </a:p>
        </p:txBody>
      </p:sp>
      <p:sp>
        <p:nvSpPr>
          <p:cNvPr id="17430" name="Rectangle 17429"/>
          <p:cNvSpPr/>
          <p:nvPr/>
        </p:nvSpPr>
        <p:spPr>
          <a:xfrm>
            <a:off x="4123944" y="1408176"/>
            <a:ext cx="1113739" cy="13716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ectangle 17430"/>
          <p:cNvSpPr/>
          <p:nvPr/>
        </p:nvSpPr>
        <p:spPr>
          <a:xfrm>
            <a:off x="4123944" y="1444752"/>
            <a:ext cx="3977639" cy="1097280"/>
          </a:xfrm>
          <a:prstGeom prst="rect">
            <a:avLst/>
          </a:prstGeom>
          <a:solidFill>
            <a:srgbClr val="E5F5F6"/>
          </a:solidFill>
          <a:ln w="10160">
            <a:solidFill>
              <a:srgbClr val="1A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2" name="Rectangle 17431"/>
          <p:cNvSpPr/>
          <p:nvPr/>
        </p:nvSpPr>
        <p:spPr>
          <a:xfrm>
            <a:off x="4123944" y="1444752"/>
            <a:ext cx="50292" cy="10972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233672" y="1517904"/>
            <a:ext cx="3767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355E"/>
                </a:solidFill>
                <a:latin typeface="Calibri"/>
              </a:rPr>
              <a:t>ISO/IEC 27001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4233672" y="1773936"/>
            <a:ext cx="37673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A.13.1 Network Controls
Kernel-isolated execution &amp; zero external egress fully satisfies this control.</a:t>
            </a:r>
          </a:p>
        </p:txBody>
      </p:sp>
      <p:sp>
        <p:nvSpPr>
          <p:cNvPr id="17435" name="Rectangle 17434"/>
          <p:cNvSpPr/>
          <p:nvPr/>
        </p:nvSpPr>
        <p:spPr>
          <a:xfrm>
            <a:off x="4123944" y="2596896"/>
            <a:ext cx="3977639" cy="1097280"/>
          </a:xfrm>
          <a:prstGeom prst="rect">
            <a:avLst/>
          </a:prstGeom>
          <a:noFill/>
          <a:ln w="10160">
            <a:solidFill>
              <a:srgbClr val="0087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Rectangle 17435"/>
          <p:cNvSpPr/>
          <p:nvPr/>
        </p:nvSpPr>
        <p:spPr>
          <a:xfrm>
            <a:off x="4123944" y="2596896"/>
            <a:ext cx="50292" cy="1097280"/>
          </a:xfrm>
          <a:prstGeom prst="rect">
            <a:avLst/>
          </a:prstGeom>
          <a:solidFill>
            <a:srgbClr val="0087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4233672" y="2670048"/>
            <a:ext cx="3767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878F"/>
                </a:solidFill>
                <a:latin typeface="Calibri"/>
              </a:rPr>
              <a:t>NIST AI RMF 1.0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233672" y="2926079"/>
            <a:ext cx="37673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Govern, Map &amp; Measure categories
Satisfied via cryptographic audit trails and role-based access logging.</a:t>
            </a:r>
          </a:p>
        </p:txBody>
      </p:sp>
      <p:sp>
        <p:nvSpPr>
          <p:cNvPr id="17439" name="Rectangle 17438"/>
          <p:cNvSpPr/>
          <p:nvPr/>
        </p:nvSpPr>
        <p:spPr>
          <a:xfrm>
            <a:off x="4123944" y="3749039"/>
            <a:ext cx="3977639" cy="1097280"/>
          </a:xfrm>
          <a:prstGeom prst="rect">
            <a:avLst/>
          </a:prstGeom>
          <a:solidFill>
            <a:srgbClr val="E5F5F6"/>
          </a:solidFill>
          <a:ln w="10160">
            <a:solidFill>
              <a:srgbClr val="8B4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Rectangle 17439"/>
          <p:cNvSpPr/>
          <p:nvPr/>
        </p:nvSpPr>
        <p:spPr>
          <a:xfrm>
            <a:off x="4123944" y="3749039"/>
            <a:ext cx="50292" cy="1097280"/>
          </a:xfrm>
          <a:prstGeom prst="rect">
            <a:avLst/>
          </a:prstGeom>
          <a:solidFill>
            <a:srgbClr val="8B4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4233672" y="3822191"/>
            <a:ext cx="3767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4500"/>
                </a:solidFill>
                <a:latin typeface="Calibri"/>
              </a:rPr>
              <a:t>API 598 / SOP-VAL-002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233672" y="4078224"/>
            <a:ext cx="37673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Industrial Valve Testing Standard
Seat leakage &amp; hydrostatic criteria embedded directly into RAG knowledge base.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4123944" y="4901184"/>
            <a:ext cx="3977639" cy="1097280"/>
          </a:xfrm>
          <a:prstGeom prst="rect">
            <a:avLst/>
          </a:prstGeom>
          <a:noFill/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Rectangle 17443"/>
          <p:cNvSpPr/>
          <p:nvPr/>
        </p:nvSpPr>
        <p:spPr>
          <a:xfrm>
            <a:off x="4123944" y="4901184"/>
            <a:ext cx="50292" cy="1097280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4233672" y="4974336"/>
            <a:ext cx="376732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60"/>
                </a:solidFill>
                <a:latin typeface="Calibri"/>
              </a:rPr>
              <a:t>India NDGF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233672" y="5230368"/>
            <a:ext cx="376732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5C68"/>
                </a:solidFill>
                <a:latin typeface="Calibri"/>
              </a:rPr>
              <a:t>National Data Governance Framework
100% on-soil, on-device — no cross-border data transmission.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183879" y="117043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1A7A60"/>
                </a:solidFill>
                <a:latin typeface="Calibri"/>
              </a:rPr>
              <a:t>Live Verification Battery</a:t>
            </a:r>
          </a:p>
        </p:txBody>
      </p:sp>
      <p:sp>
        <p:nvSpPr>
          <p:cNvPr id="17448" name="Rectangle 17447"/>
          <p:cNvSpPr/>
          <p:nvPr/>
        </p:nvSpPr>
        <p:spPr>
          <a:xfrm>
            <a:off x="8183879" y="1408176"/>
            <a:ext cx="1100937" cy="13716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Rectangle 17448"/>
          <p:cNvSpPr/>
          <p:nvPr/>
        </p:nvSpPr>
        <p:spPr>
          <a:xfrm>
            <a:off x="8183879" y="1444752"/>
            <a:ext cx="3931920" cy="1097280"/>
          </a:xfrm>
          <a:prstGeom prst="rect">
            <a:avLst/>
          </a:prstGeom>
          <a:solidFill>
            <a:srgbClr val="E8F5F0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0" name="Rectangle 17449"/>
          <p:cNvSpPr/>
          <p:nvPr/>
        </p:nvSpPr>
        <p:spPr>
          <a:xfrm>
            <a:off x="8183879" y="1444752"/>
            <a:ext cx="50292" cy="1097280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8293608" y="1517904"/>
            <a:ext cx="3730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ourier New"/>
              </a:rPr>
              <a:t>python verify_full_stack.py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293608" y="1773936"/>
            <a:ext cx="3730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4-Pillar System Health Check</a:t>
            </a:r>
          </a:p>
        </p:txBody>
      </p:sp>
      <p:sp>
        <p:nvSpPr>
          <p:cNvPr id="17453" name="Rectangle 17452"/>
          <p:cNvSpPr/>
          <p:nvPr/>
        </p:nvSpPr>
        <p:spPr>
          <a:xfrm>
            <a:off x="9893808" y="2066544"/>
            <a:ext cx="1170432" cy="274320"/>
          </a:xfrm>
          <a:prstGeom prst="roundRect">
            <a:avLst>
              <a:gd name="adj" fmla="val 16000"/>
            </a:avLst>
          </a:prstGeom>
          <a:solidFill>
            <a:srgbClr val="E8F5F0"/>
          </a:solidFill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4" name="TextBox 17453"/>
          <p:cNvSpPr txBox="1"/>
          <p:nvPr/>
        </p:nvSpPr>
        <p:spPr>
          <a:xfrm>
            <a:off x="9893808" y="2066544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7A60"/>
                </a:solidFill>
                <a:latin typeface="Calibri"/>
              </a:rPr>
              <a:t>ALL PASS</a:t>
            </a:r>
          </a:p>
        </p:txBody>
      </p:sp>
      <p:sp>
        <p:nvSpPr>
          <p:cNvPr id="17455" name="Rectangle 17454"/>
          <p:cNvSpPr/>
          <p:nvPr/>
        </p:nvSpPr>
        <p:spPr>
          <a:xfrm>
            <a:off x="8183879" y="2596896"/>
            <a:ext cx="3931920" cy="1097280"/>
          </a:xfrm>
          <a:prstGeom prst="rect">
            <a:avLst/>
          </a:prstGeom>
          <a:noFill/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Rectangle 17455"/>
          <p:cNvSpPr/>
          <p:nvPr/>
        </p:nvSpPr>
        <p:spPr>
          <a:xfrm>
            <a:off x="8183879" y="2596896"/>
            <a:ext cx="50292" cy="1097280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8293608" y="2670048"/>
            <a:ext cx="3730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ourier New"/>
              </a:rPr>
              <a:t>python verify_grounding_suite.py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8293608" y="2926079"/>
            <a:ext cx="3730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Multimodal Anti-Hallucination Proof</a:t>
            </a:r>
          </a:p>
        </p:txBody>
      </p:sp>
      <p:sp>
        <p:nvSpPr>
          <p:cNvPr id="17459" name="Rectangle 17458"/>
          <p:cNvSpPr/>
          <p:nvPr/>
        </p:nvSpPr>
        <p:spPr>
          <a:xfrm>
            <a:off x="9893808" y="3218688"/>
            <a:ext cx="1170432" cy="274320"/>
          </a:xfrm>
          <a:prstGeom prst="roundRect">
            <a:avLst>
              <a:gd name="adj" fmla="val 16000"/>
            </a:avLst>
          </a:prstGeom>
          <a:solidFill>
            <a:srgbClr val="E8F5F0"/>
          </a:solidFill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TextBox 17459"/>
          <p:cNvSpPr txBox="1"/>
          <p:nvPr/>
        </p:nvSpPr>
        <p:spPr>
          <a:xfrm>
            <a:off x="9893808" y="3218688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7A60"/>
                </a:solidFill>
                <a:latin typeface="Calibri"/>
              </a:rPr>
              <a:t>ALL PASS</a:t>
            </a:r>
          </a:p>
        </p:txBody>
      </p:sp>
      <p:sp>
        <p:nvSpPr>
          <p:cNvPr id="17461" name="Rectangle 17460"/>
          <p:cNvSpPr/>
          <p:nvPr/>
        </p:nvSpPr>
        <p:spPr>
          <a:xfrm>
            <a:off x="8183879" y="3749039"/>
            <a:ext cx="3931920" cy="1097280"/>
          </a:xfrm>
          <a:prstGeom prst="rect">
            <a:avLst/>
          </a:prstGeom>
          <a:solidFill>
            <a:srgbClr val="E8F5F0"/>
          </a:solidFill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2" name="Rectangle 17461"/>
          <p:cNvSpPr/>
          <p:nvPr/>
        </p:nvSpPr>
        <p:spPr>
          <a:xfrm>
            <a:off x="8183879" y="3749039"/>
            <a:ext cx="50292" cy="1097280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8293608" y="3822191"/>
            <a:ext cx="3730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ourier New"/>
              </a:rPr>
              <a:t>python verify_sandbox.py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8293608" y="4078224"/>
            <a:ext cx="3730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1 GB Isolated Sandbox Verification</a:t>
            </a:r>
          </a:p>
        </p:txBody>
      </p:sp>
      <p:sp>
        <p:nvSpPr>
          <p:cNvPr id="17465" name="Rectangle 17464"/>
          <p:cNvSpPr/>
          <p:nvPr/>
        </p:nvSpPr>
        <p:spPr>
          <a:xfrm>
            <a:off x="9893808" y="4370831"/>
            <a:ext cx="1170432" cy="274320"/>
          </a:xfrm>
          <a:prstGeom prst="roundRect">
            <a:avLst>
              <a:gd name="adj" fmla="val 16000"/>
            </a:avLst>
          </a:prstGeom>
          <a:solidFill>
            <a:srgbClr val="E8F5F0"/>
          </a:solidFill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9893808" y="4370831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7A60"/>
                </a:solidFill>
                <a:latin typeface="Calibri"/>
              </a:rPr>
              <a:t>ALL PASS</a:t>
            </a:r>
          </a:p>
        </p:txBody>
      </p:sp>
      <p:sp>
        <p:nvSpPr>
          <p:cNvPr id="17467" name="Rectangle 17466"/>
          <p:cNvSpPr/>
          <p:nvPr/>
        </p:nvSpPr>
        <p:spPr>
          <a:xfrm>
            <a:off x="8183879" y="4901184"/>
            <a:ext cx="3931920" cy="1097280"/>
          </a:xfrm>
          <a:prstGeom prst="rect">
            <a:avLst/>
          </a:prstGeom>
          <a:noFill/>
          <a:ln w="7620">
            <a:solidFill>
              <a:srgbClr val="C8D4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Rectangle 17467"/>
          <p:cNvSpPr/>
          <p:nvPr/>
        </p:nvSpPr>
        <p:spPr>
          <a:xfrm>
            <a:off x="8183879" y="4901184"/>
            <a:ext cx="50292" cy="1097280"/>
          </a:xfrm>
          <a:prstGeom prst="rect">
            <a:avLst/>
          </a:prstGeom>
          <a:solidFill>
            <a:srgbClr val="1A7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9" name="TextBox 17468"/>
          <p:cNvSpPr txBox="1"/>
          <p:nvPr/>
        </p:nvSpPr>
        <p:spPr>
          <a:xfrm>
            <a:off x="8293608" y="4974336"/>
            <a:ext cx="373075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355E"/>
                </a:solidFill>
                <a:latin typeface="Courier New"/>
              </a:rPr>
              <a:t>python verify_audit.py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8293608" y="5230368"/>
            <a:ext cx="3730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25C68"/>
                </a:solidFill>
                <a:latin typeface="Calibri"/>
              </a:rPr>
              <a:t>SHA-256 Merkle Audit Integrity</a:t>
            </a:r>
          </a:p>
        </p:txBody>
      </p:sp>
      <p:sp>
        <p:nvSpPr>
          <p:cNvPr id="17471" name="Rectangle 17470"/>
          <p:cNvSpPr/>
          <p:nvPr/>
        </p:nvSpPr>
        <p:spPr>
          <a:xfrm>
            <a:off x="9893808" y="5522976"/>
            <a:ext cx="1170432" cy="274320"/>
          </a:xfrm>
          <a:prstGeom prst="roundRect">
            <a:avLst>
              <a:gd name="adj" fmla="val 16000"/>
            </a:avLst>
          </a:prstGeom>
          <a:solidFill>
            <a:srgbClr val="E8F5F0"/>
          </a:solidFill>
          <a:ln w="10160">
            <a:solidFill>
              <a:srgbClr val="1A7A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TextBox 17471"/>
          <p:cNvSpPr txBox="1"/>
          <p:nvPr/>
        </p:nvSpPr>
        <p:spPr>
          <a:xfrm>
            <a:off x="9893808" y="5522976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A7A60"/>
                </a:solidFill>
                <a:latin typeface="Calibri"/>
              </a:rPr>
              <a:t>ALL PASS</a:t>
            </a:r>
          </a:p>
        </p:txBody>
      </p:sp>
      <p:sp>
        <p:nvSpPr>
          <p:cNvPr id="17473" name="Rectangle 17472"/>
          <p:cNvSpPr/>
          <p:nvPr/>
        </p:nvSpPr>
        <p:spPr>
          <a:xfrm>
            <a:off x="0" y="6035040"/>
            <a:ext cx="12188952" cy="13716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TextBox 17473"/>
          <p:cNvSpPr txBox="1"/>
          <p:nvPr/>
        </p:nvSpPr>
        <p:spPr>
          <a:xfrm>
            <a:off x="91440" y="6080760"/>
            <a:ext cx="8686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25C68"/>
                </a:solidFill>
                <a:latin typeface="Calibri"/>
              </a:rPr>
              <a:t>github.com/[Your-Handle]/sovereign-ai-workbench   |   MIT Open Source   |   Full test suite &amp; GGUF configs included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8869680" y="60807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1">
                <a:solidFill>
                  <a:srgbClr val="1A355E"/>
                </a:solidFill>
                <a:latin typeface="Calibri"/>
              </a:rPr>
              <a:t>"Not a single byte leaves this laptop."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